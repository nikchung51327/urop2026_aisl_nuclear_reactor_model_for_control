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3" r:id="rId5"/>
    <p:sldId id="260" r:id="rId6"/>
    <p:sldId id="261" r:id="rId7"/>
    <p:sldId id="266" r:id="rId8"/>
    <p:sldId id="267" r:id="rId9"/>
    <p:sldId id="268" r:id="rId10"/>
    <p:sldId id="264" r:id="rId11"/>
    <p:sldId id="265" r:id="rId12"/>
    <p:sldId id="269" r:id="rId13"/>
    <p:sldId id="275" r:id="rId14"/>
    <p:sldId id="270" r:id="rId15"/>
    <p:sldId id="271" r:id="rId16"/>
    <p:sldId id="272" r:id="rId17"/>
    <p:sldId id="273" r:id="rId18"/>
    <p:sldId id="274" r:id="rId19"/>
    <p:sldId id="259" r:id="rId20"/>
    <p:sldId id="26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4F6D8-24D9-4C29-9B4C-D1AD149E7F32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2F128-AC3B-4B4F-B7CE-30D9BC8E0A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013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2F128-AC3B-4B4F-B7CE-30D9BC8E0AD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504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9A6E-4C34-63AA-678C-164287DD4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5C2E0-8632-FC5F-37D9-B56F06CD9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F183-A765-D836-1A97-030C978C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B1E5D-1470-498F-BB2D-EC9D1BFC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F6A0-1504-581D-D731-778D3E79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2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1138-DDD8-47FE-DAF6-B90130EE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B3895-47A1-A89D-E18B-78FD627AE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645AC-B551-C6CD-E606-C0760E1E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6BC52-A15C-E3DB-B6BB-767FD089C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35F5A-85CD-F609-7700-B086098E2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903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4863E-A37A-12B7-3AA3-68C7A2A5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6E479-D69F-949C-B72C-3DCA96C1A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80278-5C52-C1B1-C47D-28EE95B9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AC425-21BA-1F0D-9569-86E20905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25512-F324-A837-6997-330F4B4A1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697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CDD9-8CF4-5350-C4CD-F13E9521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CA315-0C9F-5526-20C2-C9B48B50F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9DCAA-91C6-AA2C-A0AE-BCEE81B5C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87210-930B-F9E6-606E-D4D6B9EA3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1D37F-526B-4F0A-CC8D-9203751A1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12DA7-197A-33A0-6B61-B28A0C3A9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452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3E25-D9D0-45BA-8789-A35E19687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AB235-DDBA-94C8-1C47-680B5EB07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6A560-D08E-8A65-DED0-E02218929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EA453B-FC89-00E6-7289-DA4A81026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F82E4-FB2B-A3C3-2B8F-15B8E5892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6BA69-D112-C168-1641-6002B1308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C5C0A-F79D-C9AE-5939-04ABF175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5D5050-EACB-4879-48B6-DB3415A7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96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D50C-1EBD-1DF8-4C0C-155D5513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31AAD-FCD7-C4D7-2CE0-2E2D7DE3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7D0C8-E56D-FF97-50E1-7D3D84D8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BB498-78EE-1D13-AF19-6964866A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823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91CAD-A631-FD84-A129-E10B324FB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63CDB-E5D6-24E1-EEC7-D92BF756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419C4-F7B5-02D8-17C6-FB2F5E3C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33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FFC6-C4FD-E507-DBB8-9B1ED610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FF9CF-4646-124A-1150-6186D1D68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41533-7981-81F3-A952-32F912863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D0CC3-BCFA-9C95-B713-C4B4C4B2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6D865-1B7B-58E9-A28E-1B7EFFAF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95200-9B05-A905-3CC6-FF454F14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34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A61E-393D-145D-F32C-710E14B74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321FB7-4C59-F7B6-7877-F2312DE1CE8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86ED3-5846-BC2C-1845-10D2A2D1C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59152-1178-F823-A5C9-7AA8EC52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4378A-ED60-CF22-FAA2-515652C6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BBFEE-83AF-F074-4F1B-189712F2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181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E7B8-30E4-AFD5-A550-A928C500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BA5B0-9CC6-33C7-367A-4514C0E1B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7455A-F5E2-F68F-AA97-812A8941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DCB1-71E5-24DC-9DFB-57ACEA58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EBF9E-A25B-0704-8800-7E3C5127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47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F7180B-072F-7514-8703-9B6D1FB32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9BF3D-78D1-CE0C-38C1-EC61C7FB4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ACAC7-0E4F-FCED-5FB5-8027FC8BF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8DD89-02C4-DD79-864A-96E721AFD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DEEE1-E09D-41E4-B859-B670AB3E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57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DD0AD7-3BCF-1892-5A62-07CCA66F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CC215-73C7-E852-69A7-6A8A9E5FF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BDB90-9F88-0C42-B974-A1094FD5A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04A77-7E0C-4C0D-A88C-A2AAFD5C53DA}" type="datetimeFigureOut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33C17-0A65-1A94-40F4-AA1E7E883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E38C-437F-4900-8E79-D3294D520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23747-0984-473B-9E7E-00868162394D}" type="slidenum">
              <a:rPr lang="en-GB" smtClean="0"/>
              <a:t>‹#›</a:t>
            </a:fld>
            <a:endParaRPr lang="en-GB"/>
          </a:p>
        </p:txBody>
      </p:sp>
      <p:sp>
        <p:nvSpPr>
          <p:cNvPr id="900" name="Deck footer"/>
          <p:cNvSpPr txBox="1"/>
          <p:nvPr userDrawn="1"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en-GB" sz="1000" dirty="0">
                <a:solidFill>
                  <a:srgbClr val="64748B"/>
                </a:solidFill>
              </a:rPr>
              <a:t>Nuclear reactor model for axial offset control  ·  Nikolas Chung</a:t>
            </a:r>
          </a:p>
        </p:txBody>
      </p:sp>
      <p:sp>
        <p:nvSpPr>
          <p:cNvPr id="901" name="Deck slide number"/>
          <p:cNvSpPr txBox="1"/>
          <p:nvPr userDrawn="1"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B6F15528-21DE-4FAA-801E-634DDDAF4B2B}" type="slidenum">
              <a:rPr lang="en-GB" sz="1000">
                <a:solidFill>
                  <a:srgbClr val="64748B"/>
                </a:solidFill>
              </a:rPr>
              <a:t>‹#›</a:t>
            </a:fld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88266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1E293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6C95-BBB8-4C52-9148-56EEFBE2F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1737360"/>
            <a:ext cx="10515600" cy="1737360"/>
          </a:xfrm>
        </p:spPr>
        <p:txBody>
          <a:bodyPr anchor="b" lIns="0" rIns="0" tIns="0" bIns="0" wrap="square">
            <a:noAutofit/>
          </a:bodyPr>
          <a:lstStyle/>
          <a:p>
            <a:pPr algn="l"/>
            <a:r>
              <a:rPr lang="en-GB" sz="4400" b="1" dirty="0">
                <a:solidFill>
                  <a:srgbClr val="FFFFFF"/>
                </a:solidFill>
              </a:rPr>
              <a:t>Nuclear reactor model for axial offset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4441D-492D-4E10-67CD-A2C594CA7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3794760"/>
            <a:ext cx="10515600" cy="1097280"/>
          </a:xfrm>
        </p:spPr>
        <p:txBody>
          <a:bodyPr anchor="t" lIns="0" rIns="0" tIns="0" bIns="0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2200" b="1" dirty="0">
                <a:solidFill>
                  <a:srgbClr val="FFFFFF"/>
                </a:solidFill>
              </a:rPr>
              <a:t>Nikolas Chung</a:t>
            </a:r>
          </a:p>
          <a:p>
            <a:pPr algn="l"/>
            <a:r>
              <a:rPr lang="en-GB" sz="1600" dirty="0">
                <a:solidFill>
                  <a:srgbClr val="CBD5E1"/>
                </a:solidFill>
              </a:rPr>
              <a:t>Supervisors: Christos Evripidou, Dr Mehmet Mercangoz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200" b="1" spc="200" dirty="0">
                <a:solidFill>
                  <a:srgbClr val="5FC4D4"/>
                </a:solidFill>
              </a:rPr>
              <a:t>UROP PROJECT</a:t>
            </a:r>
          </a:p>
        </p:txBody>
      </p:sp>
    </p:spTree>
    <p:extLst>
      <p:ext uri="{BB962C8B-B14F-4D97-AF65-F5344CB8AC3E}">
        <p14:creationId xmlns:p14="http://schemas.microsoft.com/office/powerpoint/2010/main" val="3831964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18DD-5F17-45BD-68EA-024CFC7F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Outline</a:t>
            </a:r>
          </a:p>
        </p:txBody>
      </p:sp>
      <p:sp>
        <p:nvSpPr>
          <p:cNvPr id="1001" name="Outline number 1"/>
          <p:cNvSpPr txBox="1"/>
          <p:nvPr/>
        </p:nvSpPr>
        <p:spPr>
          <a:xfrm>
            <a:off x="548640" y="1691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600" b="1" dirty="0">
                <a:solidFill>
                  <a:srgbClr val="0E7490"/>
                </a:solidFill>
              </a:rPr>
              <a:t>01</a:t>
            </a:r>
          </a:p>
        </p:txBody>
      </p:sp>
      <p:sp>
        <p:nvSpPr>
          <p:cNvPr id="1002" name="Outline item 1"/>
          <p:cNvSpPr txBox="1"/>
          <p:nvPr/>
        </p:nvSpPr>
        <p:spPr>
          <a:xfrm>
            <a:off x="1371600" y="169164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000" dirty="0">
                <a:solidFill>
                  <a:srgbClr val="1E293B"/>
                </a:solidFill>
              </a:rPr>
              <a:t>What is this project, and why?</a:t>
            </a:r>
          </a:p>
        </p:txBody>
      </p:sp>
      <p:sp>
        <p:nvSpPr>
          <p:cNvPr id="1003" name="Outline number 2"/>
          <p:cNvSpPr txBox="1"/>
          <p:nvPr/>
        </p:nvSpPr>
        <p:spPr>
          <a:xfrm>
            <a:off x="548640" y="27432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600" b="1" dirty="0">
                <a:solidFill>
                  <a:srgbClr val="0E7490"/>
                </a:solidFill>
              </a:rPr>
              <a:t>02</a:t>
            </a:r>
          </a:p>
        </p:txBody>
      </p:sp>
      <p:sp>
        <p:nvSpPr>
          <p:cNvPr id="1004" name="Outline item 2"/>
          <p:cNvSpPr txBox="1"/>
          <p:nvPr/>
        </p:nvSpPr>
        <p:spPr>
          <a:xfrm>
            <a:off x="1371600" y="274320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000" dirty="0">
                <a:solidFill>
                  <a:srgbClr val="1E293B"/>
                </a:solidFill>
              </a:rPr>
              <a:t>From references to model structure</a:t>
            </a:r>
          </a:p>
        </p:txBody>
      </p:sp>
      <p:sp>
        <p:nvSpPr>
          <p:cNvPr id="1005" name="Outline number 3"/>
          <p:cNvSpPr txBox="1"/>
          <p:nvPr/>
        </p:nvSpPr>
        <p:spPr>
          <a:xfrm>
            <a:off x="548640" y="37947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600" b="1" dirty="0">
                <a:solidFill>
                  <a:srgbClr val="0E7490"/>
                </a:solidFill>
              </a:rPr>
              <a:t>03</a:t>
            </a:r>
          </a:p>
        </p:txBody>
      </p:sp>
      <p:sp>
        <p:nvSpPr>
          <p:cNvPr id="1006" name="Outline item 3"/>
          <p:cNvSpPr txBox="1"/>
          <p:nvPr/>
        </p:nvSpPr>
        <p:spPr>
          <a:xfrm>
            <a:off x="1371600" y="379476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000" dirty="0">
                <a:solidFill>
                  <a:srgbClr val="1E293B"/>
                </a:solidFill>
              </a:rPr>
              <a:t>Background: reactor physics</a:t>
            </a:r>
          </a:p>
        </p:txBody>
      </p:sp>
      <p:sp>
        <p:nvSpPr>
          <p:cNvPr id="1007" name="Outline number 4"/>
          <p:cNvSpPr txBox="1"/>
          <p:nvPr/>
        </p:nvSpPr>
        <p:spPr>
          <a:xfrm>
            <a:off x="548640" y="4846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600" b="1" dirty="0">
                <a:solidFill>
                  <a:srgbClr val="0E7490"/>
                </a:solidFill>
              </a:rPr>
              <a:t>04</a:t>
            </a:r>
          </a:p>
        </p:txBody>
      </p:sp>
      <p:sp>
        <p:nvSpPr>
          <p:cNvPr id="1008" name="Outline item 4"/>
          <p:cNvSpPr txBox="1"/>
          <p:nvPr/>
        </p:nvSpPr>
        <p:spPr>
          <a:xfrm>
            <a:off x="1371600" y="484632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000" dirty="0">
                <a:solidFill>
                  <a:srgbClr val="1E293B"/>
                </a:solidFill>
              </a:rPr>
              <a:t>What exactly are we controlling?</a:t>
            </a:r>
          </a:p>
        </p:txBody>
      </p:sp>
      <p:sp>
        <p:nvSpPr>
          <p:cNvPr id="1009" name="Outline number 5"/>
          <p:cNvSpPr txBox="1"/>
          <p:nvPr/>
        </p:nvSpPr>
        <p:spPr>
          <a:xfrm>
            <a:off x="6217920" y="16916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600" b="1" dirty="0">
                <a:solidFill>
                  <a:srgbClr val="0E7490"/>
                </a:solidFill>
              </a:rPr>
              <a:t>05</a:t>
            </a:r>
          </a:p>
        </p:txBody>
      </p:sp>
      <p:sp>
        <p:nvSpPr>
          <p:cNvPr id="1010" name="Outline item 5"/>
          <p:cNvSpPr txBox="1"/>
          <p:nvPr/>
        </p:nvSpPr>
        <p:spPr>
          <a:xfrm>
            <a:off x="7040880" y="169164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000" dirty="0">
                <a:solidFill>
                  <a:srgbClr val="1E293B"/>
                </a:solidFill>
              </a:rPr>
              <a:t>Live demo</a:t>
            </a:r>
          </a:p>
        </p:txBody>
      </p:sp>
      <p:sp>
        <p:nvSpPr>
          <p:cNvPr id="1011" name="Outline number 6"/>
          <p:cNvSpPr txBox="1"/>
          <p:nvPr/>
        </p:nvSpPr>
        <p:spPr>
          <a:xfrm>
            <a:off x="6217920" y="27432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600" b="1" dirty="0">
                <a:solidFill>
                  <a:srgbClr val="0E7490"/>
                </a:solidFill>
              </a:rPr>
              <a:t>06</a:t>
            </a:r>
          </a:p>
        </p:txBody>
      </p:sp>
      <p:sp>
        <p:nvSpPr>
          <p:cNvPr id="1012" name="Outline item 6"/>
          <p:cNvSpPr txBox="1"/>
          <p:nvPr/>
        </p:nvSpPr>
        <p:spPr>
          <a:xfrm>
            <a:off x="7040880" y="274320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000" dirty="0">
                <a:solidFill>
                  <a:srgbClr val="1E293B"/>
                </a:solidFill>
              </a:rPr>
              <a:t>Model validation</a:t>
            </a:r>
          </a:p>
        </p:txBody>
      </p:sp>
      <p:sp>
        <p:nvSpPr>
          <p:cNvPr id="1013" name="Outline number 7"/>
          <p:cNvSpPr txBox="1"/>
          <p:nvPr/>
        </p:nvSpPr>
        <p:spPr>
          <a:xfrm>
            <a:off x="6217920" y="37947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600" b="1" dirty="0">
                <a:solidFill>
                  <a:srgbClr val="0E7490"/>
                </a:solidFill>
              </a:rPr>
              <a:t>07</a:t>
            </a:r>
          </a:p>
        </p:txBody>
      </p:sp>
      <p:sp>
        <p:nvSpPr>
          <p:cNvPr id="1014" name="Outline item 7"/>
          <p:cNvSpPr txBox="1"/>
          <p:nvPr/>
        </p:nvSpPr>
        <p:spPr>
          <a:xfrm>
            <a:off x="7040880" y="379476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000" dirty="0">
                <a:solidFill>
                  <a:srgbClr val="1E293B"/>
                </a:solidFill>
              </a:rPr>
              <a:t>Model constraints</a:t>
            </a:r>
          </a:p>
        </p:txBody>
      </p:sp>
      <p:sp>
        <p:nvSpPr>
          <p:cNvPr id="1015" name="Outline number 8"/>
          <p:cNvSpPr txBox="1"/>
          <p:nvPr/>
        </p:nvSpPr>
        <p:spPr>
          <a:xfrm>
            <a:off x="6217920" y="4846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600" b="1" dirty="0">
                <a:solidFill>
                  <a:srgbClr val="0E7490"/>
                </a:solidFill>
              </a:rPr>
              <a:t>08</a:t>
            </a:r>
          </a:p>
        </p:txBody>
      </p:sp>
      <p:sp>
        <p:nvSpPr>
          <p:cNvPr id="1016" name="Outline item 8"/>
          <p:cNvSpPr txBox="1"/>
          <p:nvPr/>
        </p:nvSpPr>
        <p:spPr>
          <a:xfrm>
            <a:off x="7040880" y="484632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r>
              <a:rPr lang="en-GB" sz="2000" dirty="0">
                <a:solidFill>
                  <a:srgbClr val="1E293B"/>
                </a:solidFill>
              </a:rPr>
              <a:t>Final notes</a:t>
            </a:r>
          </a:p>
        </p:txBody>
      </p:sp>
    </p:spTree>
    <p:extLst>
      <p:ext uri="{BB962C8B-B14F-4D97-AF65-F5344CB8AC3E}">
        <p14:creationId xmlns:p14="http://schemas.microsoft.com/office/powerpoint/2010/main" val="41729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87C1-F67E-031C-2E60-EF4FA17AE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What is this project, and why?</a:t>
            </a:r>
          </a:p>
        </p:txBody>
      </p:sp>
      <p:pic>
        <p:nvPicPr>
          <p:cNvPr id="5" name="Picture 4" descr="SCADA (ICS) Hacking and Security: Hacking Nuclear Power Plants, Part 1 ...">
            <a:extLst>
              <a:ext uri="{FF2B5EF4-FFF2-40B4-BE49-F238E27FC236}">
                <a16:creationId xmlns:a16="http://schemas.microsoft.com/office/drawing/2014/main" id="{93ADB69C-4C1B-47E5-E20E-6CFC2C74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54680"/>
            <a:ext cx="4697674" cy="297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7429E7-06AD-9A93-30C4-D49FFD0E3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935" y="3154680"/>
            <a:ext cx="2942377" cy="29718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2461CC-97B4-F57C-9707-244EB2629F17}"/>
              </a:ext>
            </a:extLst>
          </p:cNvPr>
          <p:cNvCxnSpPr>
            <a:cxnSpLocks/>
          </p:cNvCxnSpPr>
          <p:nvPr/>
        </p:nvCxnSpPr>
        <p:spPr>
          <a:xfrm>
            <a:off x="5440680" y="4709160"/>
            <a:ext cx="3017520" cy="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096B829-9CA7-184C-00E9-998F84139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246120"/>
            <a:ext cx="2560320" cy="13606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D17190-0A8B-1A78-CB47-736287B89BBB}"/>
              </a:ext>
            </a:extLst>
          </p:cNvPr>
          <p:cNvSpPr txBox="1"/>
          <p:nvPr/>
        </p:nvSpPr>
        <p:spPr>
          <a:xfrm>
            <a:off x="548640" y="1417320"/>
            <a:ext cx="11091672" cy="1463040"/>
          </a:xfrm>
          <a:prstGeom prst="rect">
            <a:avLst/>
          </a:prstGeom>
          <a:noFill/>
        </p:spPr>
        <p:txBody>
          <a:bodyPr wrap="square" rtlCol="0" lIns="0" rIns="0" tIns="0" bIns="0">
            <a:noAutofit/>
          </a:bodyPr>
          <a:lstStyle/>
          <a:p>
            <a:pPr>
              <a:spcAft>
                <a:spcPts val="200"/>
              </a:spcAft>
            </a:pPr>
            <a:r>
              <a:rPr lang="en-GB" sz="1800" b="1" dirty="0">
                <a:solidFill>
                  <a:srgbClr val="1E293B"/>
                </a:solidFill>
              </a:rPr>
              <a:t xml:space="preserve">Intrinsic motivation: </a:t>
            </a:r>
            <a:r>
              <a:rPr lang="en-GB" sz="1800" dirty="0">
                <a:solidFill>
                  <a:srgbClr val="334155"/>
                </a:solidFill>
              </a:rPr>
              <a:t>nuclear energy, PDC</a:t>
            </a:r>
          </a:p>
          <a:p>
            <a:pPr>
              <a:spcAft>
                <a:spcPts val="1200"/>
              </a:spcAft>
            </a:pPr>
            <a:r>
              <a:rPr lang="en-GB" sz="1800" b="1" dirty="0">
                <a:solidFill>
                  <a:srgbClr val="1E293B"/>
                </a:solidFill>
              </a:rPr>
              <a:t xml:space="preserve">Extrinsic motivation: </a:t>
            </a:r>
            <a:r>
              <a:rPr lang="en-GB" sz="1800" dirty="0">
                <a:solidFill>
                  <a:srgbClr val="334155"/>
                </a:solidFill>
              </a:rPr>
              <a:t>the renaissance of nuclear energy</a:t>
            </a:r>
          </a:p>
          <a:p>
            <a:r>
              <a:rPr lang="en-GB" sz="1800" b="1" dirty="0">
                <a:solidFill>
                  <a:srgbClr val="0E7490"/>
                </a:solidFill>
              </a:rPr>
              <a:t xml:space="preserve">Goal: </a:t>
            </a:r>
            <a:r>
              <a:rPr lang="en-GB" sz="1800" dirty="0">
                <a:solidFill>
                  <a:srgbClr val="334155"/>
                </a:solidFill>
              </a:rPr>
              <a:t xml:space="preserve">a </a:t>
            </a:r>
            <a:r>
              <a:rPr lang="en-GB" sz="1800" b="1" dirty="0">
                <a:solidFill>
                  <a:srgbClr val="1E293B"/>
                </a:solidFill>
              </a:rPr>
              <a:t>Python</a:t>
            </a:r>
            <a:r>
              <a:rPr lang="en-GB" sz="1800" dirty="0">
                <a:solidFill>
                  <a:srgbClr val="334155"/>
                </a:solidFill>
              </a:rPr>
              <a:t xml:space="preserve"> platform for experimenting with </a:t>
            </a:r>
            <a:r>
              <a:rPr lang="en-GB" sz="1800" b="1" dirty="0">
                <a:solidFill>
                  <a:srgbClr val="1E293B"/>
                </a:solidFill>
              </a:rPr>
              <a:t>control strategies</a:t>
            </a:r>
            <a:r>
              <a:rPr lang="en-GB" sz="1800" dirty="0">
                <a:solidFill>
                  <a:srgbClr val="334155"/>
                </a:solidFill>
              </a:rPr>
              <a:t xml:space="preserve"> for nuclear energy systems in </a:t>
            </a:r>
            <a:r>
              <a:rPr lang="en-GB" sz="1800" b="1" dirty="0">
                <a:solidFill>
                  <a:srgbClr val="1E293B"/>
                </a:solidFill>
              </a:rPr>
              <a:t>load following</a:t>
            </a:r>
            <a:r>
              <a:rPr lang="en-GB" sz="1800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01 · MOTIVATION</a:t>
            </a:r>
          </a:p>
        </p:txBody>
      </p:sp>
    </p:spTree>
    <p:extLst>
      <p:ext uri="{BB962C8B-B14F-4D97-AF65-F5344CB8AC3E}">
        <p14:creationId xmlns:p14="http://schemas.microsoft.com/office/powerpoint/2010/main" val="33834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77C2-D952-7A29-A8A2-DF31F1BA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Who is this project useful for?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01 · MOTIVATION</a:t>
            </a:r>
          </a:p>
        </p:txBody>
      </p:sp>
      <p:sp>
        <p:nvSpPr>
          <p:cNvPr id="1002" name="Card Audience"/>
          <p:cNvSpPr txBox="1"/>
          <p:nvPr/>
        </p:nvSpPr>
        <p:spPr>
          <a:xfrm>
            <a:off x="548640" y="1737360"/>
            <a:ext cx="3514344" cy="3108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GB" sz="2800" b="1" dirty="0">
                <a:solidFill>
                  <a:srgbClr val="0E7490"/>
                </a:solidFill>
              </a:rPr>
              <a:t>01</a:t>
            </a:r>
          </a:p>
          <a:p>
            <a:pPr>
              <a:spcAft>
                <a:spcPts val="800"/>
              </a:spcAft>
            </a:pPr>
            <a:r>
              <a:rPr lang="en-GB" sz="2000" b="1" dirty="0">
                <a:solidFill>
                  <a:srgbClr val="1E293B"/>
                </a:solidFill>
              </a:rPr>
              <a:t>Audience</a:t>
            </a:r>
          </a:p>
          <a:p>
            <a:r>
              <a:rPr lang="en-GB" sz="1800" dirty="0">
                <a:solidFill>
                  <a:srgbClr val="334155"/>
                </a:solidFill>
              </a:rPr>
              <a:t xml:space="preserve">Control-oriented researchers. </a:t>
            </a:r>
            <a:r>
              <a:rPr lang="en-GB" sz="1800" b="1" dirty="0">
                <a:solidFill>
                  <a:srgbClr val="1E293B"/>
                </a:solidFill>
              </a:rPr>
              <a:t xml:space="preserve">Core idea: </a:t>
            </a:r>
            <a:r>
              <a:rPr lang="en-GB" sz="1800" dirty="0">
                <a:solidFill>
                  <a:srgbClr val="334155"/>
                </a:solidFill>
              </a:rPr>
              <a:t>build, plug, run.</a:t>
            </a:r>
          </a:p>
        </p:txBody>
      </p:sp>
      <p:sp>
        <p:nvSpPr>
          <p:cNvPr id="1003" name="Card Approach"/>
          <p:cNvSpPr txBox="1"/>
          <p:nvPr/>
        </p:nvSpPr>
        <p:spPr>
          <a:xfrm>
            <a:off x="4337304" y="1737360"/>
            <a:ext cx="3514344" cy="3108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GB" sz="2800" b="1" dirty="0">
                <a:solidFill>
                  <a:srgbClr val="0E7490"/>
                </a:solidFill>
              </a:rPr>
              <a:t>02</a:t>
            </a:r>
          </a:p>
          <a:p>
            <a:pPr>
              <a:spcAft>
                <a:spcPts val="800"/>
              </a:spcAft>
            </a:pPr>
            <a:r>
              <a:rPr lang="en-GB" sz="2000" b="1" dirty="0">
                <a:solidFill>
                  <a:srgbClr val="1E293B"/>
                </a:solidFill>
              </a:rPr>
              <a:t>Approach</a:t>
            </a:r>
          </a:p>
          <a:p>
            <a:r>
              <a:rPr lang="en-GB" sz="1800" dirty="0">
                <a:solidFill>
                  <a:srgbClr val="334155"/>
                </a:solidFill>
              </a:rPr>
              <a:t>A simple API and interactivity. Only limited background in nuclear reactor analysis is needed.</a:t>
            </a:r>
          </a:p>
        </p:txBody>
      </p:sp>
      <p:sp>
        <p:nvSpPr>
          <p:cNvPr id="1004" name="Card Status"/>
          <p:cNvSpPr txBox="1"/>
          <p:nvPr/>
        </p:nvSpPr>
        <p:spPr>
          <a:xfrm>
            <a:off x="8125968" y="1737360"/>
            <a:ext cx="3514344" cy="3108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274320" tIns="274320" rIns="274320" bIns="27432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GB" sz="2800" b="1" dirty="0">
                <a:solidFill>
                  <a:srgbClr val="0E7490"/>
                </a:solidFill>
              </a:rPr>
              <a:t>03</a:t>
            </a:r>
          </a:p>
          <a:p>
            <a:pPr>
              <a:spcAft>
                <a:spcPts val="800"/>
              </a:spcAft>
            </a:pPr>
            <a:r>
              <a:rPr lang="en-GB" sz="2000" b="1" dirty="0">
                <a:solidFill>
                  <a:srgbClr val="1E293B"/>
                </a:solidFill>
              </a:rPr>
              <a:t>Status</a:t>
            </a:r>
          </a:p>
          <a:p>
            <a:r>
              <a:rPr lang="en-GB" sz="1800" dirty="0">
                <a:solidFill>
                  <a:srgbClr val="334155"/>
                </a:solidFill>
              </a:rPr>
              <a:t>Still a little rough around the edges: some parts still need validation, and the UX can be polished further.</a:t>
            </a:r>
          </a:p>
        </p:txBody>
      </p:sp>
    </p:spTree>
    <p:extLst>
      <p:ext uri="{BB962C8B-B14F-4D97-AF65-F5344CB8AC3E}">
        <p14:creationId xmlns:p14="http://schemas.microsoft.com/office/powerpoint/2010/main" val="1989999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31DC-BC6B-19E3-C1B6-3412F0A2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What makes this control problem interesting?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69F46-AEF6-0E69-1971-EB5599966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417320"/>
            <a:ext cx="11091672" cy="411480"/>
          </a:xfrm>
        </p:spPr>
        <p:txBody>
          <a:bodyPr lIns="0" rIns="0" tIns="0" bIns="0" wrap="square">
            <a:no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1E293B"/>
                </a:solidFill>
              </a:rPr>
              <a:t>Uranium → iodine → xenon</a:t>
            </a:r>
            <a:r>
              <a:rPr lang="en-GB" sz="1800" dirty="0">
                <a:solidFill>
                  <a:srgbClr val="334155"/>
                </a:solidFill>
              </a:rPr>
              <a:t xml:space="preserve"> (xenon is a very strong neutron absorber)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400B72-B03B-669D-A29F-C14FAA714979}"/>
              </a:ext>
            </a:extLst>
          </p:cNvPr>
          <p:cNvSpPr/>
          <p:nvPr/>
        </p:nvSpPr>
        <p:spPr>
          <a:xfrm>
            <a:off x="1408176" y="3127248"/>
            <a:ext cx="1197864" cy="1051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31A87C-F5CE-9E5C-B937-1CBE68222E11}"/>
              </a:ext>
            </a:extLst>
          </p:cNvPr>
          <p:cNvSpPr/>
          <p:nvPr/>
        </p:nvSpPr>
        <p:spPr>
          <a:xfrm>
            <a:off x="1408176" y="4178808"/>
            <a:ext cx="1197864" cy="105156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EB9D1F-7FE1-9E17-C07B-430FFBAF5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926080"/>
            <a:ext cx="3931920" cy="20895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0972DCB-BB5F-7378-37D1-79B41F3D9D33}"/>
              </a:ext>
            </a:extLst>
          </p:cNvPr>
          <p:cNvSpPr/>
          <p:nvPr/>
        </p:nvSpPr>
        <p:spPr>
          <a:xfrm>
            <a:off x="1627632" y="2698921"/>
            <a:ext cx="49254" cy="6661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7B07D2-199B-830D-C916-5755AC98BDFD}"/>
              </a:ext>
            </a:extLst>
          </p:cNvPr>
          <p:cNvSpPr/>
          <p:nvPr/>
        </p:nvSpPr>
        <p:spPr>
          <a:xfrm>
            <a:off x="2010154" y="2694264"/>
            <a:ext cx="50781" cy="6508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6EBBCF-A830-A808-1E2C-EEB48FC00D7F}"/>
              </a:ext>
            </a:extLst>
          </p:cNvPr>
          <p:cNvSpPr/>
          <p:nvPr/>
        </p:nvSpPr>
        <p:spPr>
          <a:xfrm>
            <a:off x="2358116" y="2694264"/>
            <a:ext cx="45719" cy="6508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5FFBD4-7E79-CF9E-EEAA-7FA71EBAA308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652259" y="2194560"/>
            <a:ext cx="16521" cy="504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4A3FDA1-52F4-D54D-BAD5-9E84B797CD2E}"/>
              </a:ext>
            </a:extLst>
          </p:cNvPr>
          <p:cNvCxnSpPr/>
          <p:nvPr/>
        </p:nvCxnSpPr>
        <p:spPr>
          <a:xfrm flipV="1">
            <a:off x="2019788" y="2200622"/>
            <a:ext cx="0" cy="504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C5958D-4E11-883F-B4C2-129E563FD963}"/>
              </a:ext>
            </a:extLst>
          </p:cNvPr>
          <p:cNvCxnSpPr/>
          <p:nvPr/>
        </p:nvCxnSpPr>
        <p:spPr>
          <a:xfrm flipV="1">
            <a:off x="2362688" y="2189903"/>
            <a:ext cx="0" cy="504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A7751D-1043-7706-848F-FDC08315A61F}"/>
              </a:ext>
            </a:extLst>
          </p:cNvPr>
          <p:cNvCxnSpPr/>
          <p:nvPr/>
        </p:nvCxnSpPr>
        <p:spPr>
          <a:xfrm>
            <a:off x="1066800" y="3127248"/>
            <a:ext cx="0" cy="21031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9DE99B8-A81B-BB06-E328-3731CDD86A81}"/>
              </a:ext>
            </a:extLst>
          </p:cNvPr>
          <p:cNvSpPr txBox="1"/>
          <p:nvPr/>
        </p:nvSpPr>
        <p:spPr>
          <a:xfrm>
            <a:off x="548642" y="3907200"/>
            <a:ext cx="6461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3.65m</a:t>
            </a:r>
            <a:endParaRPr lang="en-GB" sz="9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5B5F8D9-C849-8199-FECC-BE62916A7DDA}"/>
              </a:ext>
            </a:extLst>
          </p:cNvPr>
          <p:cNvCxnSpPr>
            <a:cxnSpLocks/>
          </p:cNvCxnSpPr>
          <p:nvPr/>
        </p:nvCxnSpPr>
        <p:spPr>
          <a:xfrm>
            <a:off x="1408176" y="5449824"/>
            <a:ext cx="11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6623CF3-E0FB-AF1A-5515-6AD3254771FF}"/>
              </a:ext>
            </a:extLst>
          </p:cNvPr>
          <p:cNvSpPr txBox="1"/>
          <p:nvPr/>
        </p:nvSpPr>
        <p:spPr>
          <a:xfrm>
            <a:off x="1716513" y="5513180"/>
            <a:ext cx="6461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3.02 m</a:t>
            </a:r>
            <a:endParaRPr lang="en-GB" sz="9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82525C-9545-5E6A-954D-A971037E307D}"/>
              </a:ext>
            </a:extLst>
          </p:cNvPr>
          <p:cNvSpPr/>
          <p:nvPr/>
        </p:nvSpPr>
        <p:spPr>
          <a:xfrm>
            <a:off x="1801368" y="3465576"/>
            <a:ext cx="455186" cy="394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GB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0A7A688-9DF7-AB9F-7B5A-8FD8C66CD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1874520"/>
            <a:ext cx="4114800" cy="218678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6A38D66-1381-7674-14AD-90001B6D9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4114800"/>
            <a:ext cx="4114800" cy="2186780"/>
          </a:xfrm>
          <a:prstGeom prst="rect">
            <a:avLst/>
          </a:prstGeom>
        </p:spPr>
      </p:pic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01 · MOTIVATION</a:t>
            </a:r>
          </a:p>
        </p:txBody>
      </p:sp>
    </p:spTree>
    <p:extLst>
      <p:ext uri="{BB962C8B-B14F-4D97-AF65-F5344CB8AC3E}">
        <p14:creationId xmlns:p14="http://schemas.microsoft.com/office/powerpoint/2010/main" val="17730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70B4-2AF1-39BC-9E71-9AD0249BD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Model structure: what makes it different?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6DD28-38C9-6D26-E6D6-DA9315D42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160" y="2089934"/>
            <a:ext cx="6096000" cy="3790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F29EDF-CF1B-4953-CE39-A26072A13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51" y="2812981"/>
            <a:ext cx="1714449" cy="30672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D84E8D-B6A6-F4C3-B257-CD279D6C0A98}"/>
              </a:ext>
            </a:extLst>
          </p:cNvPr>
          <p:cNvSpPr/>
          <p:nvPr/>
        </p:nvSpPr>
        <p:spPr>
          <a:xfrm>
            <a:off x="4928616" y="3469269"/>
            <a:ext cx="3108960" cy="1426464"/>
          </a:xfrm>
          <a:prstGeom prst="rect">
            <a:avLst/>
          </a:prstGeom>
          <a:noFill/>
          <a:ln w="1905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78B68B-AAC7-88F8-3C86-86E895C2ED81}"/>
              </a:ext>
            </a:extLst>
          </p:cNvPr>
          <p:cNvCxnSpPr/>
          <p:nvPr/>
        </p:nvCxnSpPr>
        <p:spPr>
          <a:xfrm flipV="1">
            <a:off x="2980944" y="4182501"/>
            <a:ext cx="1947672" cy="713232"/>
          </a:xfrm>
          <a:prstGeom prst="line">
            <a:avLst/>
          </a:prstGeom>
          <a:ln w="127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F3BF63-0CAA-DB73-06AE-96D8DF201C00}"/>
              </a:ext>
            </a:extLst>
          </p:cNvPr>
          <p:cNvCxnSpPr>
            <a:cxnSpLocks/>
          </p:cNvCxnSpPr>
          <p:nvPr/>
        </p:nvCxnSpPr>
        <p:spPr>
          <a:xfrm flipV="1">
            <a:off x="2980944" y="4182501"/>
            <a:ext cx="1947672" cy="1472184"/>
          </a:xfrm>
          <a:prstGeom prst="line">
            <a:avLst/>
          </a:prstGeom>
          <a:ln w="1270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46E37BB-5BDB-A6FF-56C2-202FB828303C}"/>
              </a:ext>
            </a:extLst>
          </p:cNvPr>
          <p:cNvSpPr txBox="1"/>
          <p:nvPr/>
        </p:nvSpPr>
        <p:spPr>
          <a:xfrm>
            <a:off x="822960" y="5943600"/>
            <a:ext cx="3657600" cy="320040"/>
          </a:xfrm>
          <a:prstGeom prst="rect">
            <a:avLst/>
          </a:prstGeom>
          <a:noFill/>
        </p:spPr>
        <p:txBody>
          <a:bodyPr wrap="square" rtlCol="0" lIns="0" rIns="0" tIns="0" bIns="0">
            <a:noAutofit/>
          </a:bodyPr>
          <a:lstStyle/>
          <a:p>
            <a:r>
              <a:rPr lang="en-GB" sz="1200" i="1" dirty="0">
                <a:solidFill>
                  <a:srgbClr val="64748B"/>
                </a:solidFill>
              </a:rPr>
              <a:t>Two-point core: Li (2014)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EB5AE8-BD14-197A-508A-8F7D873E7BFC}"/>
              </a:ext>
            </a:extLst>
          </p:cNvPr>
          <p:cNvSpPr txBox="1"/>
          <p:nvPr/>
        </p:nvSpPr>
        <p:spPr>
          <a:xfrm>
            <a:off x="5093208" y="5943600"/>
            <a:ext cx="6099048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lang="en-GB" sz="1200" i="1" dirty="0">
                <a:solidFill>
                  <a:srgbClr val="64748B"/>
                </a:solidFill>
              </a:rPr>
              <a:t>Plant: Vajpayee et al. (2020)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BF16B-1C21-5A13-711C-02F4B4B3F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8616" y="3127248"/>
            <a:ext cx="3108960" cy="292608"/>
          </a:xfrm>
        </p:spPr>
        <p:txBody>
          <a:bodyPr lIns="0" rIns="0" tIns="0" bIns="0" wrap="square">
            <a:noAutofit/>
          </a:bodyPr>
          <a:lstStyle/>
          <a:p>
            <a:pPr marL="0" indent="0">
              <a:buNone/>
            </a:pPr>
            <a:r>
              <a:rPr lang="en-GB" sz="1300" u="sng" dirty="0">
                <a:solidFill>
                  <a:srgbClr val="0E7490"/>
                </a:solidFill>
                <a:hlinkClick r:id="rId4" action="ppaction://hlinksldjump"/>
              </a:rPr>
              <a:t>Why 2 coolant nodes? 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FC16F-CA84-C919-7C0C-7D6F06EBD11F}"/>
              </a:ext>
            </a:extLst>
          </p:cNvPr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</p:spPr>
        <p:txBody>
          <a:bodyPr wrap="square" rtlCol="0" lIns="0" rIns="0" tIns="0" bIns="0">
            <a:noAutofit/>
          </a:bodyPr>
          <a:lstStyle/>
          <a:p>
            <a:r>
              <a:rPr lang="en-GB" sz="1800" dirty="0">
                <a:solidFill>
                  <a:srgbClr val="334155"/>
                </a:solidFill>
              </a:rPr>
              <a:t xml:space="preserve">Plant based on the </a:t>
            </a:r>
            <a:r>
              <a:rPr lang="en-GB" sz="1800" b="1" dirty="0">
                <a:solidFill>
                  <a:srgbClr val="1E293B"/>
                </a:solidFill>
              </a:rPr>
              <a:t>H. B. Robinson</a:t>
            </a:r>
            <a:r>
              <a:rPr lang="en-GB" sz="1800" dirty="0">
                <a:solidFill>
                  <a:srgbClr val="334155"/>
                </a:solidFill>
              </a:rPr>
              <a:t xml:space="preserve"> PWR (Kerlin et al., 1976)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02 · MODEL STRUCTURE</a:t>
            </a:r>
          </a:p>
        </p:txBody>
      </p:sp>
    </p:spTree>
    <p:extLst>
      <p:ext uri="{BB962C8B-B14F-4D97-AF65-F5344CB8AC3E}">
        <p14:creationId xmlns:p14="http://schemas.microsoft.com/office/powerpoint/2010/main" val="36227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3BA35-2F26-31B2-DBE6-371696F7E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Background: the chain reaction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07C8A-C7CD-5678-2D2C-C7963FF1C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371600"/>
            <a:ext cx="11091672" cy="1417320"/>
          </a:xfrm>
        </p:spPr>
        <p:txBody>
          <a:bodyPr lIns="0" rIns="0" tIns="0" bIns="0" wrap="square">
            <a:noAutofit/>
          </a:bodyPr>
          <a:lstStyle/>
          <a:p>
            <a:pPr>
              <a:spcBef>
                <a:spcPts val="400"/>
              </a:spcBef>
              <a:buClr>
                <a:srgbClr val="0E7490"/>
              </a:buClr>
              <a:buFont typeface="Arial"/>
              <a:buChar char="•"/>
            </a:pPr>
            <a:r>
              <a:rPr lang="en-GB" sz="1800" dirty="0">
                <a:solidFill>
                  <a:srgbClr val="334155"/>
                </a:solidFill>
              </a:rPr>
              <a:t xml:space="preserve">Fission: neutrons are born </a:t>
            </a:r>
            <a:r>
              <a:rPr lang="en-GB" sz="1800" b="1" dirty="0">
                <a:solidFill>
                  <a:srgbClr val="1E293B"/>
                </a:solidFill>
              </a:rPr>
              <a:t>fast</a:t>
            </a:r>
            <a:r>
              <a:rPr lang="en-GB" sz="1800" dirty="0">
                <a:solidFill>
                  <a:srgbClr val="334155"/>
                </a:solidFill>
              </a:rPr>
              <a:t xml:space="preserve"> (high energy) and are slowed down by the coolant until they are </a:t>
            </a:r>
            <a:r>
              <a:rPr lang="en-GB" sz="1800" b="1" dirty="0">
                <a:solidFill>
                  <a:srgbClr val="1E293B"/>
                </a:solidFill>
              </a:rPr>
              <a:t>thermal</a:t>
            </a:r>
            <a:r>
              <a:rPr lang="en-GB" sz="1800" dirty="0">
                <a:solidFill>
                  <a:srgbClr val="334155"/>
                </a:solidFill>
              </a:rPr>
              <a:t xml:space="preserve"> (low energy).</a:t>
            </a:r>
          </a:p>
          <a:p>
            <a:pPr>
              <a:spcBef>
                <a:spcPts val="400"/>
              </a:spcBef>
              <a:buClr>
                <a:srgbClr val="0E7490"/>
              </a:buClr>
              <a:buFont typeface="Arial"/>
              <a:buChar char="•"/>
            </a:pPr>
            <a:r>
              <a:rPr lang="en-GB" sz="1800" dirty="0">
                <a:solidFill>
                  <a:srgbClr val="334155"/>
                </a:solidFill>
              </a:rPr>
              <a:t>Thermal neutrons are reabsorbed in the fuel, and the chain reaction continues.</a:t>
            </a:r>
          </a:p>
          <a:p>
            <a:pPr>
              <a:spcBef>
                <a:spcPts val="400"/>
              </a:spcBef>
              <a:buClr>
                <a:srgbClr val="0E7490"/>
              </a:buClr>
              <a:buFont typeface="Arial"/>
              <a:buChar char="•"/>
            </a:pPr>
            <a:r>
              <a:rPr lang="en-GB" sz="1800" dirty="0">
                <a:solidFill>
                  <a:srgbClr val="334155"/>
                </a:solidFill>
              </a:rPr>
              <a:t xml:space="preserve">It is all about </a:t>
            </a:r>
            <a:r>
              <a:rPr lang="en-GB" sz="1800" b="1" dirty="0">
                <a:solidFill>
                  <a:srgbClr val="1E293B"/>
                </a:solidFill>
              </a:rPr>
              <a:t>controlling the chain reaction.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53D1C-D3A3-B9ED-1B02-87B2A0A60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3722"/>
          <a:stretch>
            <a:fillRect/>
          </a:stretch>
        </p:blipFill>
        <p:spPr>
          <a:xfrm>
            <a:off x="6172200" y="3246120"/>
            <a:ext cx="5468112" cy="2442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DB2B77-5A4A-C4F1-6E83-B8610AB97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662" y="3017520"/>
            <a:ext cx="1764036" cy="1600200"/>
          </a:xfrm>
          <a:prstGeom prst="rect">
            <a:avLst/>
          </a:prstGeom>
        </p:spPr>
      </p:pic>
      <p:pic>
        <p:nvPicPr>
          <p:cNvPr id="8" name="Picture 7" descr="Modified pin cell layout | Download Scientific Diagram">
            <a:extLst>
              <a:ext uri="{FF2B5EF4-FFF2-40B4-BE49-F238E27FC236}">
                <a16:creationId xmlns:a16="http://schemas.microsoft.com/office/drawing/2014/main" id="{684D458F-7365-F6BE-D8E9-41C6381FE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9160"/>
            <a:ext cx="5212080" cy="1660388"/>
          </a:xfrm>
          <a:prstGeom prst="rect">
            <a:avLst/>
          </a:prstGeom>
        </p:spPr>
      </p:pic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03 · BACKGROUND</a:t>
            </a:r>
          </a:p>
        </p:txBody>
      </p:sp>
    </p:spTree>
    <p:extLst>
      <p:ext uri="{BB962C8B-B14F-4D97-AF65-F5344CB8AC3E}">
        <p14:creationId xmlns:p14="http://schemas.microsoft.com/office/powerpoint/2010/main" val="296351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B686-0DB0-8D37-A5F9-E4F4FE6B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Reactivity and criticality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506-1AA6-59E0-CC07-721E48DDC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417320"/>
            <a:ext cx="11091672" cy="411480"/>
          </a:xfrm>
        </p:spPr>
        <p:txBody>
          <a:bodyPr lIns="0" rIns="0" tIns="0" bIns="0" wrap="square"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334155"/>
                </a:solidFill>
              </a:rPr>
              <a:t xml:space="preserve">Reactivity </a:t>
            </a:r>
            <a:r>
              <a:rPr lang="en-GB" sz="1800" b="1" dirty="0">
                <a:solidFill>
                  <a:srgbClr val="1E293B"/>
                </a:solidFill>
              </a:rPr>
              <a:t>ρ</a:t>
            </a:r>
            <a:r>
              <a:rPr lang="en-GB" sz="1800" dirty="0">
                <a:solidFill>
                  <a:srgbClr val="334155"/>
                </a:solidFill>
              </a:rPr>
              <a:t xml:space="preserve"> measures how far the core is from criticality.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5175C8-D769-FDD0-D35B-806958A2C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2926080" cy="18373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B68D279-7EAA-4066-923B-FC8DF75EAD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5406221"/>
                  </p:ext>
                </p:extLst>
              </p:nvPr>
            </p:nvGraphicFramePr>
            <p:xfrm>
              <a:off x="4069080" y="2331720"/>
              <a:ext cx="7543800" cy="1504252"/>
            </p:xfrm>
            <a:graphic>
              <a:graphicData uri="http://schemas.openxmlformats.org/drawingml/2006/table">
                <a:tbl>
                  <a:tblPr firstRow="1" bandRow="0">
                    <a:tableStyleId>{2D5ABB26-0587-4C30-8999-92F81FD0307C}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2928690088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263290369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168942611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 sz="1600" b="1">
                              <a:solidFill>
                                <a:srgbClr val="1E293B"/>
                              </a:solidFill>
                            </a:rPr>
                            <a:t>Reactor state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19050">
                          <a:solidFill>
                            <a:srgbClr val="1E293B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l-GR" dirty="0" sz="1600" b="1">
                              <a:solidFill>
                                <a:srgbClr val="1E293B"/>
                              </a:solidFill>
                            </a:rPr>
                            <a:t>ρ</a:t>
                          </a:r>
                          <a:r>
                            <a:rPr lang="en-US" dirty="0" sz="1600" b="1">
                              <a:solidFill>
                                <a:srgbClr val="1E293B"/>
                              </a:solidFill>
                            </a:rPr>
                            <a:t> (reactivity)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19050">
                          <a:solidFill>
                            <a:srgbClr val="1E293B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𝒆𝒇𝒇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dirty="0" sz="1600" b="1">
                              <a:solidFill>
                                <a:srgbClr val="1E293B"/>
                              </a:solidFill>
                            </a:rPr>
                            <a:t> (criticality)</a:t>
                          </a:r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19050">
                          <a:solidFill>
                            <a:srgbClr val="1E293B"/>
                          </a:solidFill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51758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Steady state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0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1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02946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Supercritical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&gt; 0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&gt; 1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4613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Subcritical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&lt; 0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&lt; 1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689161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B68D279-7EAA-4066-923B-FC8DF75EAD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5406221"/>
                  </p:ext>
                </p:extLst>
              </p:nvPr>
            </p:nvGraphicFramePr>
            <p:xfrm>
              <a:off x="4069080" y="2331720"/>
              <a:ext cx="7543800" cy="1504252"/>
            </p:xfrm>
            <a:graphic>
              <a:graphicData uri="http://schemas.openxmlformats.org/drawingml/2006/table">
                <a:tbl>
                  <a:tblPr firstRow="1" bandRow="0">
                    <a:tableStyleId>{2D5ABB26-0587-4C30-8999-92F81FD0307C}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2928690088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263290369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168942611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 sz="1600" b="1">
                              <a:solidFill>
                                <a:srgbClr val="1E293B"/>
                              </a:solidFill>
                            </a:rPr>
                            <a:t>Reactor state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19050">
                          <a:solidFill>
                            <a:srgbClr val="1E293B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l-GR" dirty="0" sz="1600" b="1">
                              <a:solidFill>
                                <a:srgbClr val="1E293B"/>
                              </a:solidFill>
                            </a:rPr>
                            <a:t>ρ</a:t>
                          </a:r>
                          <a:r>
                            <a:rPr lang="en-US" dirty="0" sz="1600" b="1">
                              <a:solidFill>
                                <a:srgbClr val="1E293B"/>
                              </a:solidFill>
                            </a:rPr>
                            <a:t> (reactivity)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19050">
                          <a:solidFill>
                            <a:srgbClr val="1E293B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19050">
                          <a:solidFill>
                            <a:srgbClr val="1E293B"/>
                          </a:solidFill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851758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Steady state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0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1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02946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Supercritical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&gt; 0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&gt; 1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4613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Subcritical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&lt; 0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z="1600">
                              <a:solidFill>
                                <a:srgbClr val="334155"/>
                              </a:solidFill>
                            </a:rPr>
                            <a:t>&lt; 1</a:t>
                          </a:r>
                          <a:endParaRPr lang="en-GB" dirty="0"/>
                        </a:p>
                      </a:txBody>
                      <a:tcPr marL="109728" marR="109728" marT="73152" marB="73152"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9525">
                          <a:solidFill>
                            <a:srgbClr val="CBD5E1"/>
                          </a:solidFill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468916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03 · BACKGROUND</a:t>
            </a:r>
          </a:p>
        </p:txBody>
      </p:sp>
    </p:spTree>
    <p:extLst>
      <p:ext uri="{BB962C8B-B14F-4D97-AF65-F5344CB8AC3E}">
        <p14:creationId xmlns:p14="http://schemas.microsoft.com/office/powerpoint/2010/main" val="1066179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EF0C3-7A2A-3880-A481-C889D2FA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What changes reactivity?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3E7F63-079E-670B-EDBB-6FE047B7B4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6722828"/>
              </p:ext>
            </p:extLst>
          </p:nvPr>
        </p:nvGraphicFramePr>
        <p:xfrm>
          <a:off x="548640" y="1600200"/>
          <a:ext cx="11091672" cy="27432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5545836">
                  <a:extLst>
                    <a:ext uri="{9D8B030D-6E8A-4147-A177-3AD203B41FA5}">
                      <a16:colId xmlns:a16="http://schemas.microsoft.com/office/drawing/2014/main" val="714824664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8611719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GB" dirty="0" sz="1800" b="1">
                          <a:solidFill>
                            <a:srgbClr val="1E293B"/>
                          </a:solidFill>
                        </a:rPr>
                        <a:t>Increases reactivity  ↑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E293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z="1800" b="1">
                          <a:solidFill>
                            <a:srgbClr val="1E293B"/>
                          </a:solidFill>
                        </a:rPr>
                        <a:t>Decreases reactivity  ↓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E293B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GB" dirty="0" sz="1800">
                          <a:solidFill>
                            <a:srgbClr val="334155"/>
                          </a:solidFill>
                        </a:rPr>
                        <a:t>Coolant temperature decreases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z="1800">
                          <a:solidFill>
                            <a:srgbClr val="334155"/>
                          </a:solidFill>
                        </a:rPr>
                        <a:t>Coolant temperature increases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GB" dirty="0" sz="1800">
                          <a:solidFill>
                            <a:srgbClr val="334155"/>
                          </a:solidFill>
                        </a:rPr>
                        <a:t>Fuel temperature decreases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z="1800">
                          <a:solidFill>
                            <a:srgbClr val="334155"/>
                          </a:solidFill>
                        </a:rPr>
                        <a:t>Fuel temperature increases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GB" dirty="0" sz="1800">
                          <a:solidFill>
                            <a:srgbClr val="334155"/>
                          </a:solidFill>
                        </a:rPr>
                        <a:t>Less boron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z="1800">
                          <a:solidFill>
                            <a:srgbClr val="334155"/>
                          </a:solidFill>
                        </a:rPr>
                        <a:t>More boron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GB" dirty="0" sz="1800">
                          <a:solidFill>
                            <a:srgbClr val="334155"/>
                          </a:solidFill>
                        </a:rPr>
                        <a:t>Control rods withdrawn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z="1800">
                          <a:solidFill>
                            <a:srgbClr val="334155"/>
                          </a:solidFill>
                        </a:rPr>
                        <a:t>Control rods inserted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GB" dirty="0" sz="1800">
                          <a:solidFill>
                            <a:srgbClr val="334155"/>
                          </a:solidFill>
                        </a:rPr>
                        <a:t>Less xenon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z="1800">
                          <a:solidFill>
                            <a:srgbClr val="334155"/>
                          </a:solidFill>
                        </a:rPr>
                        <a:t>More xenon</a:t>
                      </a:r>
                    </a:p>
                  </a:txBody>
                  <a:tcPr marL="109728" marR="109728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BD5E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57661E-0EAF-4048-CA03-95BD93BBCF24}"/>
              </a:ext>
            </a:extLst>
          </p:cNvPr>
          <p:cNvSpPr txBox="1"/>
          <p:nvPr/>
        </p:nvSpPr>
        <p:spPr>
          <a:xfrm>
            <a:off x="7982712" y="5897880"/>
            <a:ext cx="3657600" cy="320040"/>
          </a:xfrm>
          <a:prstGeom prst="rect">
            <a:avLst/>
          </a:prstGeom>
          <a:noFill/>
        </p:spPr>
        <p:txBody>
          <a:bodyPr wrap="square" rtlCol="0" lIns="0" rIns="0" tIns="0" bIns="0">
            <a:noAutofit/>
          </a:bodyPr>
          <a:lstStyle/>
          <a:p>
            <a:pPr algn="r"/>
            <a:r>
              <a:rPr lang="en-GB" sz="1300" u="sng" dirty="0">
                <a:solidFill>
                  <a:srgbClr val="0E7490"/>
                </a:solidFill>
                <a:hlinkClick r:id="rId2" action="ppaction://hlinksldjump"/>
              </a:rPr>
              <a:t>Primary-side explanation →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03 · BACKGROUND</a:t>
            </a:r>
          </a:p>
        </p:txBody>
      </p:sp>
    </p:spTree>
    <p:extLst>
      <p:ext uri="{BB962C8B-B14F-4D97-AF65-F5344CB8AC3E}">
        <p14:creationId xmlns:p14="http://schemas.microsoft.com/office/powerpoint/2010/main" val="132876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9FFF-9CBD-51A0-67F8-9DAA6A23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Control example: load disturbance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59B69-4E3F-1768-F042-C9AEE5335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44" y="2010253"/>
            <a:ext cx="6013754" cy="3739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0B7E49-2F3D-9C79-FCBC-806DB4663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584" y="3488437"/>
            <a:ext cx="3890276" cy="206745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5AA16B-93A4-BF54-4B0C-0CE4F2AFCEEB}"/>
              </a:ext>
            </a:extLst>
          </p:cNvPr>
          <p:cNvCxnSpPr/>
          <p:nvPr/>
        </p:nvCxnSpPr>
        <p:spPr>
          <a:xfrm flipH="1">
            <a:off x="6559498" y="4522166"/>
            <a:ext cx="1076086" cy="0"/>
          </a:xfrm>
          <a:prstGeom prst="straightConnector1">
            <a:avLst/>
          </a:prstGeom>
          <a:ln w="15875">
            <a:solidFill>
              <a:srgbClr val="1E29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99169-DC44-E72B-1CAA-44DAD228B1AE}"/>
              </a:ext>
            </a:extLst>
          </p:cNvPr>
          <p:cNvSpPr/>
          <p:nvPr/>
        </p:nvSpPr>
        <p:spPr>
          <a:xfrm>
            <a:off x="6811823" y="2489454"/>
            <a:ext cx="547268" cy="5212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lang="en-US" dirty="0" sz="1100" b="1"/>
              <a:t>FC</a:t>
            </a:r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604A3C-AADA-6E49-7B3C-D0DC4AD68AC7}"/>
              </a:ext>
            </a:extLst>
          </p:cNvPr>
          <p:cNvCxnSpPr>
            <a:cxnSpLocks/>
          </p:cNvCxnSpPr>
          <p:nvPr/>
        </p:nvCxnSpPr>
        <p:spPr>
          <a:xfrm flipH="1">
            <a:off x="6559498" y="3740353"/>
            <a:ext cx="550127" cy="0"/>
          </a:xfrm>
          <a:prstGeom prst="line">
            <a:avLst/>
          </a:prstGeom>
          <a:ln w="15875">
            <a:solidFill>
              <a:srgbClr val="1E293B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543967-F1A8-254A-658A-679EFAA1C50A}"/>
              </a:ext>
            </a:extLst>
          </p:cNvPr>
          <p:cNvCxnSpPr/>
          <p:nvPr/>
        </p:nvCxnSpPr>
        <p:spPr>
          <a:xfrm flipH="1" flipV="1">
            <a:off x="7085457" y="3010662"/>
            <a:ext cx="24168" cy="729691"/>
          </a:xfrm>
          <a:prstGeom prst="straightConnector1">
            <a:avLst/>
          </a:prstGeom>
          <a:ln w="15875" cap="flat" cmpd="sng" algn="ctr">
            <a:solidFill>
              <a:srgbClr val="1E293B"/>
            </a:solidFill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5B871C8-E7ED-09C0-D583-410C87A0268B}"/>
              </a:ext>
            </a:extLst>
          </p:cNvPr>
          <p:cNvCxnSpPr>
            <a:cxnSpLocks/>
          </p:cNvCxnSpPr>
          <p:nvPr/>
        </p:nvCxnSpPr>
        <p:spPr>
          <a:xfrm>
            <a:off x="5948934" y="3010662"/>
            <a:ext cx="0" cy="729691"/>
          </a:xfrm>
          <a:prstGeom prst="straightConnector1">
            <a:avLst/>
          </a:prstGeom>
          <a:ln w="15875" cap="flat" cmpd="sng" algn="ctr">
            <a:solidFill>
              <a:srgbClr val="1E293B"/>
            </a:solidFill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BC4CB06-B3CA-AF7C-B17B-BFB490154964}"/>
              </a:ext>
            </a:extLst>
          </p:cNvPr>
          <p:cNvSpPr/>
          <p:nvPr/>
        </p:nvSpPr>
        <p:spPr>
          <a:xfrm>
            <a:off x="5675300" y="2489454"/>
            <a:ext cx="547268" cy="5212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lang="en-US" sz="1100" dirty="0" b="1"/>
              <a:t>UTG</a:t>
            </a:r>
            <a:endParaRPr lang="en-GB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354561-E7FD-E9A7-7E17-A56708D1C752}"/>
              </a:ext>
            </a:extLst>
          </p:cNvPr>
          <p:cNvCxnSpPr>
            <a:cxnSpLocks/>
          </p:cNvCxnSpPr>
          <p:nvPr/>
        </p:nvCxnSpPr>
        <p:spPr>
          <a:xfrm flipH="1">
            <a:off x="6222568" y="2721102"/>
            <a:ext cx="550127" cy="0"/>
          </a:xfrm>
          <a:prstGeom prst="line">
            <a:avLst/>
          </a:prstGeom>
          <a:ln w="15875" cap="flat" cmpd="sng" algn="ctr">
            <a:solidFill>
              <a:srgbClr val="1E293B"/>
            </a:solidFill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0333D13E-2B9D-E67D-91C5-E826A61D2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725" y="1363599"/>
            <a:ext cx="3785750" cy="201190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1D1E3B1-6098-F66C-72A4-1BFC0B760B2F}"/>
              </a:ext>
            </a:extLst>
          </p:cNvPr>
          <p:cNvSpPr txBox="1"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</p:spPr>
        <p:txBody>
          <a:bodyPr wrap="square" rtlCol="0" lIns="0" rIns="0" tIns="0" bIns="0">
            <a:noAutofit/>
          </a:bodyPr>
          <a:lstStyle/>
          <a:p>
            <a:r>
              <a:rPr lang="en-GB" sz="1800" dirty="0">
                <a:solidFill>
                  <a:srgbClr val="334155"/>
                </a:solidFill>
              </a:rPr>
              <a:t xml:space="preserve">First: what happens on the </a:t>
            </a:r>
            <a:r>
              <a:rPr lang="en-GB" sz="1800" b="1" dirty="0">
                <a:solidFill>
                  <a:srgbClr val="1E293B"/>
                </a:solidFill>
              </a:rPr>
              <a:t>secondary side</a:t>
            </a:r>
            <a:r>
              <a:rPr lang="en-GB" sz="1800" dirty="0">
                <a:solidFill>
                  <a:srgbClr val="334155"/>
                </a:solidFill>
              </a:rPr>
              <a:t>?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04 · CONTROL PROBLEM</a:t>
            </a:r>
          </a:p>
        </p:txBody>
      </p:sp>
    </p:spTree>
    <p:extLst>
      <p:ext uri="{BB962C8B-B14F-4D97-AF65-F5344CB8AC3E}">
        <p14:creationId xmlns:p14="http://schemas.microsoft.com/office/powerpoint/2010/main" val="370671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4F806E8-492A-27CE-4151-09D8BE584D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005"/>
          <a:stretch>
            <a:fillRect/>
          </a:stretch>
        </p:blipFill>
        <p:spPr>
          <a:xfrm>
            <a:off x="548640" y="1965960"/>
            <a:ext cx="4023360" cy="29089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692D2B-0E04-4C45-4D47-BFA01C639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63040"/>
            <a:ext cx="3291840" cy="16338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22E5EB-8A3E-5181-41CE-A48949B58D9D}"/>
              </a:ext>
            </a:extLst>
          </p:cNvPr>
          <p:cNvSpPr txBox="1"/>
          <p:nvPr/>
        </p:nvSpPr>
        <p:spPr>
          <a:xfrm>
            <a:off x="548640" y="5897880"/>
            <a:ext cx="3200400" cy="320040"/>
          </a:xfrm>
          <a:prstGeom prst="rect">
            <a:avLst/>
          </a:prstGeom>
          <a:noFill/>
        </p:spPr>
        <p:txBody>
          <a:bodyPr wrap="square" rtlCol="0" lIns="0" rIns="0" tIns="0" bIns="0">
            <a:noAutofit/>
          </a:bodyPr>
          <a:lstStyle/>
          <a:p>
            <a:r>
              <a:rPr lang="en-GB" sz="1300" u="sng" dirty="0">
                <a:solidFill>
                  <a:srgbClr val="0E7490"/>
                </a:solidFill>
                <a:hlinkClick r:id="rId4" action="ppaction://hlinksldjump"/>
              </a:rPr>
              <a:t>Reactivity reference →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35B1FE-DD4E-F19B-2014-826A382FDCDA}"/>
              </a:ext>
            </a:extLst>
          </p:cNvPr>
          <p:cNvCxnSpPr>
            <a:cxnSpLocks/>
          </p:cNvCxnSpPr>
          <p:nvPr/>
        </p:nvCxnSpPr>
        <p:spPr>
          <a:xfrm>
            <a:off x="6629400" y="3154680"/>
            <a:ext cx="0" cy="59436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13DFC6-C754-5402-74F8-5725CCC4184F}"/>
              </a:ext>
            </a:extLst>
          </p:cNvPr>
          <p:cNvSpPr txBox="1"/>
          <p:nvPr/>
        </p:nvSpPr>
        <p:spPr>
          <a:xfrm>
            <a:off x="6766560" y="3200400"/>
            <a:ext cx="3291840" cy="548640"/>
          </a:xfrm>
          <a:prstGeom prst="rect">
            <a:avLst/>
          </a:prstGeom>
          <a:noFill/>
        </p:spPr>
        <p:txBody>
          <a:bodyPr wrap="square" rtlCol="0" lIns="0" rIns="0" tIns="0" bIns="0">
            <a:noAutofit/>
          </a:bodyPr>
          <a:lstStyle/>
          <a:p>
            <a:r>
              <a:rPr lang="en-GB" sz="1300" dirty="0">
                <a:solidFill>
                  <a:srgbClr val="334155"/>
                </a:solidFill>
              </a:rPr>
              <a:t>Coolant temperature rises and coolant becomes less dense</a:t>
            </a:r>
          </a:p>
          <a:p>
            <a:r>
              <a:rPr lang="en-GB" sz="1300" b="1" dirty="0">
                <a:solidFill>
                  <a:srgbClr val="1E293B"/>
                </a:solidFill>
              </a:rPr>
              <a:t>→ reactivity decreases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07D75BA-1000-D309-0062-F36C633CE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794760"/>
            <a:ext cx="3291840" cy="1749424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267624-F388-76CF-373A-35F70941A702}"/>
              </a:ext>
            </a:extLst>
          </p:cNvPr>
          <p:cNvCxnSpPr>
            <a:cxnSpLocks/>
          </p:cNvCxnSpPr>
          <p:nvPr/>
        </p:nvCxnSpPr>
        <p:spPr>
          <a:xfrm>
            <a:off x="8366760" y="4669472"/>
            <a:ext cx="548640" cy="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7553521-A170-0C58-6394-F166A9683D1D}"/>
              </a:ext>
            </a:extLst>
          </p:cNvPr>
          <p:cNvSpPr txBox="1"/>
          <p:nvPr/>
        </p:nvSpPr>
        <p:spPr>
          <a:xfrm>
            <a:off x="9006840" y="4395152"/>
            <a:ext cx="2633472" cy="548640"/>
          </a:xfrm>
          <a:prstGeom prst="rect">
            <a:avLst/>
          </a:prstGeom>
          <a:noFill/>
        </p:spPr>
        <p:txBody>
          <a:bodyPr wrap="square" rtlCol="0" anchor="ctr" lIns="0" rIns="0" tIns="0" bIns="0">
            <a:noAutofit/>
          </a:bodyPr>
          <a:lstStyle/>
          <a:p>
            <a:r>
              <a:rPr lang="en-GB" sz="1300" dirty="0">
                <a:solidFill>
                  <a:srgbClr val="334155"/>
                </a:solidFill>
              </a:rPr>
              <a:t>Fuel temperature decreases</a:t>
            </a:r>
          </a:p>
          <a:p>
            <a:r>
              <a:rPr lang="en-GB" sz="1300" b="1" dirty="0">
                <a:solidFill>
                  <a:srgbClr val="1E293B"/>
                </a:solidFill>
              </a:rPr>
              <a:t>→ reactivity increases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4909705-BBDC-DDBC-15A8-70B7F4F0642A}"/>
              </a:ext>
            </a:extLst>
          </p:cNvPr>
          <p:cNvCxnSpPr/>
          <p:nvPr/>
        </p:nvCxnSpPr>
        <p:spPr>
          <a:xfrm>
            <a:off x="9601200" y="4989512"/>
            <a:ext cx="0" cy="411480"/>
          </a:xfrm>
          <a:prstGeom prst="straightConnector1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FCE2BF1-C0D2-1053-0EC2-56A7120AF0DE}"/>
              </a:ext>
            </a:extLst>
          </p:cNvPr>
          <p:cNvSpPr txBox="1"/>
          <p:nvPr/>
        </p:nvSpPr>
        <p:spPr>
          <a:xfrm>
            <a:off x="9006840" y="5446712"/>
            <a:ext cx="2633472" cy="731520"/>
          </a:xfrm>
          <a:prstGeom prst="rect">
            <a:avLst/>
          </a:prstGeom>
          <a:noFill/>
        </p:spPr>
        <p:txBody>
          <a:bodyPr wrap="square" rtlCol="0" lIns="0" rIns="0" tIns="0" bIns="0">
            <a:noAutofit/>
          </a:bodyPr>
          <a:lstStyle/>
          <a:p>
            <a:r>
              <a:rPr lang="en-GB" sz="1300" b="1" dirty="0">
                <a:solidFill>
                  <a:srgbClr val="0E7490"/>
                </a:solidFill>
              </a:rPr>
              <a:t>The reactivity effects cancel, so Tavg takes a long time to settle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04 · CONTROL PROBLEM</a:t>
            </a:r>
          </a:p>
        </p:txBody>
      </p:sp>
      <p:sp>
        <p:nvSpPr>
          <p:cNvPr id="1002" name="Title"/>
          <p:cNvSpPr txBox="1"/>
          <p:nvPr/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GB" sz="3000" b="1" dirty="0">
                <a:solidFill>
                  <a:srgbClr val="1E293B"/>
                </a:solidFill>
              </a:rPr>
              <a:t>On the primary side, it is more complicated</a:t>
            </a:r>
          </a:p>
        </p:txBody>
      </p:sp>
    </p:spTree>
    <p:extLst>
      <p:ext uri="{BB962C8B-B14F-4D97-AF65-F5344CB8AC3E}">
        <p14:creationId xmlns:p14="http://schemas.microsoft.com/office/powerpoint/2010/main" val="353491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FFE64-504D-4938-CBC7-5122E5C1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Therefore, control rods are needed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5D9CDA-5605-CBC5-20C6-F091878C6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4005"/>
          <a:stretch>
            <a:fillRect/>
          </a:stretch>
        </p:blipFill>
        <p:spPr>
          <a:xfrm>
            <a:off x="548640" y="2194560"/>
            <a:ext cx="5120640" cy="3702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A6B1EF-9833-F637-B285-34553913C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589" y="1463040"/>
            <a:ext cx="4729723" cy="4754880"/>
          </a:xfrm>
          <a:prstGeom prst="rect">
            <a:avLst/>
          </a:prstGeom>
        </p:spPr>
      </p:pic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04 · CONTROL PROBLEM</a:t>
            </a:r>
          </a:p>
        </p:txBody>
      </p:sp>
    </p:spTree>
    <p:extLst>
      <p:ext uri="{BB962C8B-B14F-4D97-AF65-F5344CB8AC3E}">
        <p14:creationId xmlns:p14="http://schemas.microsoft.com/office/powerpoint/2010/main" val="4980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5C962B-D78A-765F-546C-9D42E1AEA8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45"/>
          <a:stretch>
            <a:fillRect/>
          </a:stretch>
        </p:blipFill>
        <p:spPr>
          <a:xfrm>
            <a:off x="3431298" y="1463040"/>
            <a:ext cx="5329100" cy="4754880"/>
          </a:xfrm>
          <a:prstGeom prst="rect">
            <a:avLst/>
          </a:prstGeom>
        </p:spPr>
      </p:pic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04 · CONTROL PROBLEM</a:t>
            </a:r>
          </a:p>
        </p:txBody>
      </p:sp>
      <p:sp>
        <p:nvSpPr>
          <p:cNvPr id="1002" name="Title"/>
          <p:cNvSpPr txBox="1"/>
          <p:nvPr/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GB" sz="3000" b="1" dirty="0">
                <a:solidFill>
                  <a:srgbClr val="1E293B"/>
                </a:solidFill>
              </a:rPr>
              <a:t>Axial offset over a 24-hour load-follow cycle</a:t>
            </a:r>
          </a:p>
        </p:txBody>
      </p:sp>
    </p:spTree>
    <p:extLst>
      <p:ext uri="{BB962C8B-B14F-4D97-AF65-F5344CB8AC3E}">
        <p14:creationId xmlns:p14="http://schemas.microsoft.com/office/powerpoint/2010/main" val="3995910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2B60-E5C5-95E9-24E9-B8CF6937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68880"/>
            <a:ext cx="10515600" cy="1005840"/>
          </a:xfrm>
        </p:spPr>
        <p:txBody>
          <a:bodyPr anchor="t" lIns="0" rIns="0" tIns="0" bIns="0" wrap="square">
            <a:noAutofit/>
          </a:bodyPr>
          <a:lstStyle/>
          <a:p>
            <a:r>
              <a:rPr lang="en-GB" sz="4400" b="1" dirty="0">
                <a:solidFill>
                  <a:srgbClr val="FFFFFF"/>
                </a:solidFill>
              </a:rPr>
              <a:t>Demo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F49F-5118-9806-7432-62DF918A6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3520440"/>
            <a:ext cx="10515600" cy="548640"/>
          </a:xfrm>
        </p:spPr>
        <p:txBody>
          <a:bodyPr lIns="0" rIns="0" tIns="0" bIns="0" wrap="square"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CBD5E1"/>
                </a:solidFill>
              </a:rPr>
              <a:t>Search for the GitHub repo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822960" y="2103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200" b="1" spc="200" dirty="0">
                <a:solidFill>
                  <a:srgbClr val="5FC4D4"/>
                </a:solidFill>
              </a:rPr>
              <a:t>05 · LIVE DEMO</a:t>
            </a:r>
          </a:p>
        </p:txBody>
      </p:sp>
    </p:spTree>
    <p:extLst>
      <p:ext uri="{BB962C8B-B14F-4D97-AF65-F5344CB8AC3E}">
        <p14:creationId xmlns:p14="http://schemas.microsoft.com/office/powerpoint/2010/main" val="606134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2E7-FFAD-B489-9A99-F85397BE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Validation against Vajpayee et al. (2020), Fig. 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E7C2E-EA40-C96A-0CF6-B7FB7A5A8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339" y="1783080"/>
            <a:ext cx="2884338" cy="4526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F8F21C-F360-FC4C-8688-5A8B2F06E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783080"/>
            <a:ext cx="3264059" cy="4526280"/>
          </a:xfrm>
          <a:prstGeom prst="rect">
            <a:avLst/>
          </a:prstGeom>
        </p:spPr>
      </p:pic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06 · VALIDATION</a:t>
            </a:r>
          </a:p>
        </p:txBody>
      </p:sp>
      <p:sp>
        <p:nvSpPr>
          <p:cNvPr id="1002" name="Test cases"/>
          <p:cNvSpPr txBox="1"/>
          <p:nvPr/>
        </p:nvSpPr>
        <p:spPr>
          <a:xfrm>
            <a:off x="548640" y="1828800"/>
            <a:ext cx="301752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GB" sz="1400" b="1" dirty="0">
                <a:solidFill>
                  <a:srgbClr val="1E293B"/>
                </a:solidFill>
              </a:rPr>
              <a:t>Open-loop test cases</a:t>
            </a:r>
          </a:p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E7490"/>
                </a:solidFill>
              </a:rPr>
              <a:t xml:space="preserve">Case A  </a:t>
            </a:r>
            <a:r>
              <a:rPr lang="en-GB" sz="1300" dirty="0">
                <a:solidFill>
                  <a:srgbClr val="334155"/>
                </a:solidFill>
              </a:rPr>
              <a:t>rod / reactivity step (state step)</a:t>
            </a:r>
          </a:p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E7490"/>
                </a:solidFill>
              </a:rPr>
              <a:t xml:space="preserve">Case B  </a:t>
            </a:r>
            <a:r>
              <a:rPr lang="en-GB" sz="1300" dirty="0">
                <a:solidFill>
                  <a:srgbClr val="334155"/>
                </a:solidFill>
              </a:rPr>
              <a:t>valve coefficient +5 %</a:t>
            </a:r>
          </a:p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E7490"/>
                </a:solidFill>
              </a:rPr>
              <a:t xml:space="preserve">Case C  </a:t>
            </a:r>
            <a:r>
              <a:rPr lang="en-GB" sz="1300" dirty="0">
                <a:solidFill>
                  <a:srgbClr val="334155"/>
                </a:solidFill>
              </a:rPr>
              <a:t>heater +50 %, 20–100 s</a:t>
            </a:r>
          </a:p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E7490"/>
                </a:solidFill>
              </a:rPr>
              <a:t xml:space="preserve">Case D  </a:t>
            </a:r>
            <a:r>
              <a:rPr lang="en-GB" sz="1300" dirty="0">
                <a:solidFill>
                  <a:srgbClr val="334155"/>
                </a:solidFill>
              </a:rPr>
              <a:t>feed-water temperature ramp</a:t>
            </a:r>
          </a:p>
          <a:p>
            <a:pPr>
              <a:spcBef>
                <a:spcPts val="600"/>
              </a:spcBef>
            </a:pPr>
            <a:r>
              <a:rPr lang="en-GB" sz="1200" i="1" dirty="0">
                <a:solidFill>
                  <a:srgbClr val="64748B"/>
                </a:solidFill>
              </a:rPr>
              <a:t>Perturbation applied at t = 20 s</a:t>
            </a:r>
          </a:p>
        </p:txBody>
      </p:sp>
      <p:sp>
        <p:nvSpPr>
          <p:cNvPr id="1003" name="Label published"/>
          <p:cNvSpPr txBox="1"/>
          <p:nvPr/>
        </p:nvSpPr>
        <p:spPr>
          <a:xfrm>
            <a:off x="3977640" y="1463040"/>
            <a:ext cx="326405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GB" sz="1200" b="1" dirty="0">
                <a:solidFill>
                  <a:srgbClr val="64748B"/>
                </a:solidFill>
              </a:rPr>
              <a:t>Published (Vajpayee et al., 2020)</a:t>
            </a:r>
          </a:p>
        </p:txBody>
      </p:sp>
      <p:sp>
        <p:nvSpPr>
          <p:cNvPr id="1004" name="Label this model"/>
          <p:cNvSpPr txBox="1"/>
          <p:nvPr/>
        </p:nvSpPr>
        <p:spPr>
          <a:xfrm>
            <a:off x="7790339" y="1463040"/>
            <a:ext cx="288433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GB" sz="1200" b="1" dirty="0">
                <a:solidFill>
                  <a:srgbClr val="0E7490"/>
                </a:solidFill>
              </a:rPr>
              <a:t>This model</a:t>
            </a:r>
          </a:p>
        </p:txBody>
      </p:sp>
    </p:spTree>
    <p:extLst>
      <p:ext uri="{BB962C8B-B14F-4D97-AF65-F5344CB8AC3E}">
        <p14:creationId xmlns:p14="http://schemas.microsoft.com/office/powerpoint/2010/main" val="1079571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1BF178-7A1C-70A4-09E8-3412FF94F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357" y="1783080"/>
            <a:ext cx="3358208" cy="4526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078437-2ABD-AEBE-752A-C90FE58FF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783080"/>
            <a:ext cx="3190077" cy="452628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B0E15D2-DD19-66BA-B181-F15BCA9C933C}"/>
              </a:ext>
            </a:extLst>
          </p:cNvPr>
          <p:cNvSpPr/>
          <p:nvPr/>
        </p:nvSpPr>
        <p:spPr>
          <a:xfrm>
            <a:off x="5878613" y="3963490"/>
            <a:ext cx="422479" cy="407655"/>
          </a:xfrm>
          <a:prstGeom prst="ellipse">
            <a:avLst/>
          </a:prstGeom>
          <a:noFill/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3722A0-170B-30FD-4908-6E9D9C190F1F}"/>
              </a:ext>
            </a:extLst>
          </p:cNvPr>
          <p:cNvSpPr/>
          <p:nvPr/>
        </p:nvSpPr>
        <p:spPr>
          <a:xfrm>
            <a:off x="9709139" y="4188968"/>
            <a:ext cx="385731" cy="372197"/>
          </a:xfrm>
          <a:prstGeom prst="ellipse">
            <a:avLst/>
          </a:prstGeom>
          <a:noFill/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06 · VALIDATION</a:t>
            </a:r>
          </a:p>
        </p:txBody>
      </p:sp>
      <p:sp>
        <p:nvSpPr>
          <p:cNvPr id="1002" name="Title"/>
          <p:cNvSpPr txBox="1"/>
          <p:nvPr/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GB" sz="3000" b="1" dirty="0">
                <a:solidFill>
                  <a:srgbClr val="1E293B"/>
                </a:solidFill>
              </a:rPr>
              <a:t>Validation against Vajpayee et al. (2020), Fig. 11</a:t>
            </a:r>
          </a:p>
        </p:txBody>
      </p:sp>
      <p:sp>
        <p:nvSpPr>
          <p:cNvPr id="1003" name="Test cases"/>
          <p:cNvSpPr txBox="1"/>
          <p:nvPr/>
        </p:nvSpPr>
        <p:spPr>
          <a:xfrm>
            <a:off x="548640" y="1828800"/>
            <a:ext cx="301752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800"/>
              </a:spcAft>
            </a:pPr>
            <a:r>
              <a:rPr lang="en-GB" sz="1400" b="1" dirty="0">
                <a:solidFill>
                  <a:srgbClr val="1E293B"/>
                </a:solidFill>
              </a:rPr>
              <a:t>Open-loop test cases</a:t>
            </a:r>
          </a:p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E7490"/>
                </a:solidFill>
              </a:rPr>
              <a:t xml:space="preserve">Case A  </a:t>
            </a:r>
            <a:r>
              <a:rPr lang="en-GB" sz="1300" dirty="0">
                <a:solidFill>
                  <a:srgbClr val="334155"/>
                </a:solidFill>
              </a:rPr>
              <a:t>rod / reactivity step (state step)</a:t>
            </a:r>
          </a:p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E7490"/>
                </a:solidFill>
              </a:rPr>
              <a:t xml:space="preserve">Case B  </a:t>
            </a:r>
            <a:r>
              <a:rPr lang="en-GB" sz="1300" dirty="0">
                <a:solidFill>
                  <a:srgbClr val="334155"/>
                </a:solidFill>
              </a:rPr>
              <a:t>valve coefficient +5 %</a:t>
            </a:r>
          </a:p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E7490"/>
                </a:solidFill>
              </a:rPr>
              <a:t xml:space="preserve">Case C  </a:t>
            </a:r>
            <a:r>
              <a:rPr lang="en-GB" sz="1300" dirty="0">
                <a:solidFill>
                  <a:srgbClr val="334155"/>
                </a:solidFill>
              </a:rPr>
              <a:t>heater +50 %, 20–100 s</a:t>
            </a:r>
          </a:p>
          <a:p>
            <a:pPr>
              <a:spcAft>
                <a:spcPts val="600"/>
              </a:spcAft>
            </a:pPr>
            <a:r>
              <a:rPr lang="en-GB" sz="1300" b="1" dirty="0">
                <a:solidFill>
                  <a:srgbClr val="0E7490"/>
                </a:solidFill>
              </a:rPr>
              <a:t xml:space="preserve">Case D  </a:t>
            </a:r>
            <a:r>
              <a:rPr lang="en-GB" sz="1300" dirty="0">
                <a:solidFill>
                  <a:srgbClr val="334155"/>
                </a:solidFill>
              </a:rPr>
              <a:t>feed-water temperature ramp</a:t>
            </a:r>
          </a:p>
          <a:p>
            <a:pPr>
              <a:spcBef>
                <a:spcPts val="600"/>
              </a:spcBef>
            </a:pPr>
            <a:r>
              <a:rPr lang="en-GB" sz="1200" i="1" dirty="0">
                <a:solidFill>
                  <a:srgbClr val="64748B"/>
                </a:solidFill>
              </a:rPr>
              <a:t>Perturbation applied at t = 20 s</a:t>
            </a:r>
          </a:p>
        </p:txBody>
      </p:sp>
      <p:sp>
        <p:nvSpPr>
          <p:cNvPr id="1004" name="Label published"/>
          <p:cNvSpPr txBox="1"/>
          <p:nvPr/>
        </p:nvSpPr>
        <p:spPr>
          <a:xfrm>
            <a:off x="3977640" y="1463040"/>
            <a:ext cx="319007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GB" sz="1200" b="1" dirty="0">
                <a:solidFill>
                  <a:srgbClr val="64748B"/>
                </a:solidFill>
              </a:rPr>
              <a:t>Published (Vajpayee et al., 2020)</a:t>
            </a:r>
          </a:p>
        </p:txBody>
      </p:sp>
      <p:sp>
        <p:nvSpPr>
          <p:cNvPr id="1005" name="Label this model"/>
          <p:cNvSpPr txBox="1"/>
          <p:nvPr/>
        </p:nvSpPr>
        <p:spPr>
          <a:xfrm>
            <a:off x="7716357" y="1463040"/>
            <a:ext cx="33582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GB" sz="1200" b="1" dirty="0">
                <a:solidFill>
                  <a:srgbClr val="0E7490"/>
                </a:solidFill>
              </a:rPr>
              <a:t>This model</a:t>
            </a:r>
          </a:p>
        </p:txBody>
      </p:sp>
    </p:spTree>
    <p:extLst>
      <p:ext uri="{BB962C8B-B14F-4D97-AF65-F5344CB8AC3E}">
        <p14:creationId xmlns:p14="http://schemas.microsoft.com/office/powerpoint/2010/main" val="918165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3501-C637-E91F-9893-85825CE7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What is missing, and what the model is not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07 · MODEL CONSTRAINTS</a:t>
            </a:r>
          </a:p>
        </p:txBody>
      </p:sp>
      <p:sp>
        <p:nvSpPr>
          <p:cNvPr id="1002" name="Card Still to validate"/>
          <p:cNvSpPr txBox="1"/>
          <p:nvPr/>
        </p:nvSpPr>
        <p:spPr>
          <a:xfrm>
            <a:off x="548640" y="1645920"/>
            <a:ext cx="5408676" cy="3108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20040" tIns="320040" rIns="320040" bIns="320040" anchor="t">
            <a:noAutofit/>
          </a:bodyPr>
          <a:lstStyle/>
          <a:p>
            <a:pPr>
              <a:spcAft>
                <a:spcPts val="1000"/>
              </a:spcAft>
            </a:pPr>
            <a:r>
              <a:rPr lang="en-GB" sz="2000" b="1" dirty="0">
                <a:solidFill>
                  <a:srgbClr val="1E293B"/>
                </a:solidFill>
              </a:rPr>
              <a:t>Still to validate</a:t>
            </a:r>
          </a:p>
          <a:p>
            <a:pPr marL="274320" indent="-274320">
              <a:spcAft>
                <a:spcPts val="800"/>
              </a:spcAft>
              <a:buClr>
                <a:srgbClr val="0E7490"/>
              </a:buClr>
              <a:buFont typeface="Arial"/>
              <a:buChar char="•"/>
            </a:pPr>
            <a:r>
              <a:rPr lang="en-GB" sz="1800" dirty="0">
                <a:solidFill>
                  <a:srgbClr val="334155"/>
                </a:solidFill>
              </a:rPr>
              <a:t>Against Li’s model (diffusion / coupling parameter)</a:t>
            </a:r>
          </a:p>
          <a:p>
            <a:pPr marL="274320" indent="-274320">
              <a:spcAft>
                <a:spcPts val="800"/>
              </a:spcAft>
              <a:buClr>
                <a:srgbClr val="0E7490"/>
              </a:buClr>
              <a:buFont typeface="Arial"/>
              <a:buChar char="•"/>
            </a:pPr>
            <a:r>
              <a:rPr lang="en-GB" sz="1800" dirty="0">
                <a:solidFill>
                  <a:srgbClr val="334155"/>
                </a:solidFill>
              </a:rPr>
              <a:t>Recreate the MATLAB/Simulink solvers to validate against Vajpayee et al.</a:t>
            </a:r>
          </a:p>
        </p:txBody>
      </p:sp>
      <p:sp>
        <p:nvSpPr>
          <p:cNvPr id="1003" name="Card Out of scope"/>
          <p:cNvSpPr txBox="1"/>
          <p:nvPr/>
        </p:nvSpPr>
        <p:spPr>
          <a:xfrm>
            <a:off x="6231636" y="1645920"/>
            <a:ext cx="5408676" cy="3108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320040" tIns="320040" rIns="320040" bIns="320040" anchor="t">
            <a:noAutofit/>
          </a:bodyPr>
          <a:lstStyle/>
          <a:p>
            <a:pPr>
              <a:spcAft>
                <a:spcPts val="1000"/>
              </a:spcAft>
            </a:pPr>
            <a:r>
              <a:rPr lang="en-GB" sz="2000" b="1" dirty="0">
                <a:solidFill>
                  <a:srgbClr val="1E293B"/>
                </a:solidFill>
              </a:rPr>
              <a:t>Out of scope</a:t>
            </a:r>
          </a:p>
          <a:p>
            <a:pPr marL="274320" indent="-274320">
              <a:spcAft>
                <a:spcPts val="800"/>
              </a:spcAft>
              <a:buClr>
                <a:srgbClr val="0E7490"/>
              </a:buClr>
              <a:buFont typeface="Arial"/>
              <a:buChar char="•"/>
            </a:pPr>
            <a:r>
              <a:rPr lang="en-GB" sz="1800" dirty="0">
                <a:solidFill>
                  <a:srgbClr val="334155"/>
                </a:solidFill>
              </a:rPr>
              <a:t>Start-up and shut-down</a:t>
            </a:r>
          </a:p>
          <a:p>
            <a:pPr marL="274320" indent="-274320">
              <a:spcAft>
                <a:spcPts val="800"/>
              </a:spcAft>
              <a:buClr>
                <a:srgbClr val="0E7490"/>
              </a:buClr>
              <a:buFont typeface="Arial"/>
              <a:buChar char="•"/>
            </a:pPr>
            <a:r>
              <a:rPr lang="en-GB" sz="1800" dirty="0">
                <a:solidFill>
                  <a:srgbClr val="334155"/>
                </a:solidFill>
              </a:rPr>
              <a:t>Thermal limits (peaking factors)</a:t>
            </a:r>
          </a:p>
          <a:p>
            <a:pPr marL="274320" indent="-274320">
              <a:spcAft>
                <a:spcPts val="800"/>
              </a:spcAft>
              <a:buClr>
                <a:srgbClr val="0E7490"/>
              </a:buClr>
              <a:buFont typeface="Arial"/>
              <a:buChar char="•"/>
            </a:pPr>
            <a:r>
              <a:rPr lang="en-GB" sz="1800" dirty="0">
                <a:solidFill>
                  <a:srgbClr val="334155"/>
                </a:solidFill>
              </a:rPr>
              <a:t>Radial offset</a:t>
            </a:r>
          </a:p>
          <a:p>
            <a:pPr marL="274320" indent="-274320">
              <a:spcAft>
                <a:spcPts val="800"/>
              </a:spcAft>
              <a:buClr>
                <a:srgbClr val="0E7490"/>
              </a:buClr>
              <a:buFont typeface="Arial"/>
              <a:buChar char="•"/>
            </a:pPr>
            <a:r>
              <a:rPr lang="en-GB" sz="1800" dirty="0">
                <a:solidFill>
                  <a:srgbClr val="334155"/>
                </a:solidFill>
              </a:rPr>
              <a:t>…and more, documented in validation_notes.md</a:t>
            </a:r>
          </a:p>
        </p:txBody>
      </p:sp>
    </p:spTree>
    <p:extLst>
      <p:ext uri="{BB962C8B-B14F-4D97-AF65-F5344CB8AC3E}">
        <p14:creationId xmlns:p14="http://schemas.microsoft.com/office/powerpoint/2010/main" val="790054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3E78-16C4-9894-B9DF-59ABE20A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68880"/>
            <a:ext cx="10515600" cy="1005840"/>
          </a:xfrm>
        </p:spPr>
        <p:txBody>
          <a:bodyPr anchor="t" lIns="0" rIns="0" tIns="0" bIns="0" wrap="square">
            <a:noAutofit/>
          </a:bodyPr>
          <a:lstStyle/>
          <a:p>
            <a:r>
              <a:rPr lang="en-GB" sz="4400" b="1" dirty="0">
                <a:solidFill>
                  <a:srgbClr val="FFFFFF"/>
                </a:solidFill>
              </a:rPr>
              <a:t>Special 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626D0-4280-AFC5-E4CB-759CDC00D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3520440"/>
            <a:ext cx="9601200" cy="1280160"/>
          </a:xfrm>
        </p:spPr>
        <p:txBody>
          <a:bodyPr lIns="0" rIns="0" tIns="0" bIns="0" wrap="square"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CBD5E1"/>
                </a:solidFill>
              </a:rPr>
              <a:t>Dr Mehmet Mercangoz, Christos Evripidou, Li Qu, Javal, fellow UROPs Marco and Nas, and everyone for being so welcoming and supportive!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822960" y="2103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200" b="1" spc="200" dirty="0">
                <a:solidFill>
                  <a:srgbClr val="5FC4D4"/>
                </a:solidFill>
              </a:rPr>
              <a:t>08 · FINAL NOTES</a:t>
            </a:r>
          </a:p>
        </p:txBody>
      </p:sp>
    </p:spTree>
    <p:extLst>
      <p:ext uri="{BB962C8B-B14F-4D97-AF65-F5344CB8AC3E}">
        <p14:creationId xmlns:p14="http://schemas.microsoft.com/office/powerpoint/2010/main" val="1950888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EE8D-B205-2874-0A11-8D18632A5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03504"/>
            <a:ext cx="11091672" cy="658368"/>
          </a:xfrm>
        </p:spPr>
        <p:txBody>
          <a:bodyPr anchor="t" lIns="0" rIns="0" tIns="0" bIns="0" wrap="square">
            <a:noAutofit/>
          </a:bodyPr>
          <a:lstStyle/>
          <a:p>
            <a:pPr algn="l"/>
            <a:r>
              <a:rPr lang="en-GB" dirty="0"/>
              <a:t>References</a:t>
            </a:r>
          </a:p>
        </p:txBody>
      </p:sp>
      <p:sp>
        <p:nvSpPr>
          <p:cNvPr id="1001" name="Reference list"/>
          <p:cNvSpPr txBox="1"/>
          <p:nvPr/>
        </p:nvSpPr>
        <p:spPr>
          <a:xfrm>
            <a:off x="548640" y="1554480"/>
            <a:ext cx="11091672" cy="438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411480" indent="-411480">
              <a:spcAft>
                <a:spcPts val="1600"/>
              </a:spcAft>
            </a:pPr>
            <a:r>
              <a:rPr lang="en-GB" sz="1600" dirty="0">
                <a:solidFill>
                  <a:srgbClr val="334155"/>
                </a:solidFill>
              </a:rPr>
              <a:t xml:space="preserve">Kerlin, T.W., Katz, E.M., Thakkar, J.G. and Strange, J.E. (1976). Theoretical and experimental dynamic analysis of the H. B. Robinson nuclear plant. </a:t>
            </a:r>
            <a:r>
              <a:rPr lang="en-GB" sz="1600" i="1" dirty="0">
                <a:solidFill>
                  <a:srgbClr val="334155"/>
                </a:solidFill>
              </a:rPr>
              <a:t>Nuclear Technology</a:t>
            </a:r>
            <a:r>
              <a:rPr lang="en-GB" sz="1600" dirty="0">
                <a:solidFill>
                  <a:srgbClr val="334155"/>
                </a:solidFill>
              </a:rPr>
              <a:t>, 30(3), pp. 299–316. doi:10.13182/NT76-A31645.</a:t>
            </a:r>
          </a:p>
          <a:p>
            <a:pPr marL="411480" indent="-411480">
              <a:spcAft>
                <a:spcPts val="1600"/>
              </a:spcAft>
            </a:pPr>
            <a:r>
              <a:rPr lang="en-GB" sz="1600" dirty="0">
                <a:solidFill>
                  <a:srgbClr val="334155"/>
                </a:solidFill>
              </a:rPr>
              <a:t xml:space="preserve">Li, G. (2014). Modeling and LQG/LTR control for power and axial power difference of load-follow PWR core. </a:t>
            </a:r>
            <a:r>
              <a:rPr lang="en-GB" sz="1600" i="1" dirty="0">
                <a:solidFill>
                  <a:srgbClr val="334155"/>
                </a:solidFill>
              </a:rPr>
              <a:t>Annals of Nuclear Energy</a:t>
            </a:r>
            <a:r>
              <a:rPr lang="en-GB" sz="1600" dirty="0">
                <a:solidFill>
                  <a:srgbClr val="334155"/>
                </a:solidFill>
              </a:rPr>
              <a:t>, 68, pp. 193–203. doi:10.1016/j.anucene.2014.01.022.</a:t>
            </a:r>
          </a:p>
          <a:p>
            <a:pPr marL="411480" indent="-411480">
              <a:spcAft>
                <a:spcPts val="1600"/>
              </a:spcAft>
            </a:pPr>
            <a:r>
              <a:rPr lang="en-GB" sz="1600" dirty="0">
                <a:solidFill>
                  <a:srgbClr val="334155"/>
                </a:solidFill>
              </a:rPr>
              <a:t xml:space="preserve">Vajpayee, V., Becerra, V., Bausch, N., Deng, J., Shimjith, S.R. and Arul, A.J. (2020). Dynamic modelling, simulation, and control design of a pressurized water-type nuclear power plant. </a:t>
            </a:r>
            <a:r>
              <a:rPr lang="en-GB" sz="1600" i="1" dirty="0">
                <a:solidFill>
                  <a:srgbClr val="334155"/>
                </a:solidFill>
              </a:rPr>
              <a:t>Nuclear Engineering and Design</a:t>
            </a:r>
            <a:r>
              <a:rPr lang="en-GB" sz="1600" dirty="0">
                <a:solidFill>
                  <a:srgbClr val="334155"/>
                </a:solidFill>
              </a:rPr>
              <a:t>, 370, 110901. doi:10.1016/j.nucengdes.2020.110901.</a:t>
            </a:r>
          </a:p>
        </p:txBody>
      </p:sp>
    </p:spTree>
    <p:extLst>
      <p:ext uri="{BB962C8B-B14F-4D97-AF65-F5344CB8AC3E}">
        <p14:creationId xmlns:p14="http://schemas.microsoft.com/office/powerpoint/2010/main" val="1529804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A10B8A-5653-7C63-A687-42988776D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283723" cy="4754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312D26-F115-7570-1371-3062131AE3F8}"/>
              </a:ext>
            </a:extLst>
          </p:cNvPr>
          <p:cNvSpPr txBox="1"/>
          <p:nvPr/>
        </p:nvSpPr>
        <p:spPr>
          <a:xfrm>
            <a:off x="4937760" y="274320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200"/>
              </a:spcAft>
            </a:pPr>
            <a:r>
              <a:rPr lang="en-GB" sz="1800" dirty="0">
                <a:solidFill>
                  <a:srgbClr val="334155"/>
                </a:solidFill>
              </a:rPr>
              <a:t>A simplified core heat-transfer model (1 fuel node, 2 coolant nodes) closely tracks the detailed model (15 fuel nodes, 30 coolant nodes).</a:t>
            </a:r>
          </a:p>
          <a:p>
            <a:pPr>
              <a:spcAft>
                <a:spcPts val="1200"/>
              </a:spcAft>
            </a:pPr>
            <a:r>
              <a:rPr lang="en-GB" sz="1600" dirty="0">
                <a:solidFill>
                  <a:srgbClr val="334155"/>
                </a:solidFill>
              </a:rPr>
              <a:t>Shown: change in reactor outlet temperature and reactor power.</a:t>
            </a:r>
          </a:p>
          <a:p>
            <a:r>
              <a:rPr lang="en-GB" sz="1300" i="1" dirty="0">
                <a:solidFill>
                  <a:srgbClr val="64748B"/>
                </a:solidFill>
              </a:rPr>
              <a:t>Source: Kerlin et al. (1976)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32A0A-D003-F442-A716-5683132ADE56}"/>
              </a:ext>
            </a:extLst>
          </p:cNvPr>
          <p:cNvSpPr txBox="1"/>
          <p:nvPr/>
        </p:nvSpPr>
        <p:spPr>
          <a:xfrm>
            <a:off x="9811512" y="5897880"/>
            <a:ext cx="1828800" cy="320040"/>
          </a:xfrm>
          <a:prstGeom prst="rect">
            <a:avLst/>
          </a:prstGeom>
          <a:noFill/>
        </p:spPr>
        <p:txBody>
          <a:bodyPr wrap="square" rtlCol="0" lIns="0" rIns="0" tIns="0" bIns="0">
            <a:noAutofit/>
          </a:bodyPr>
          <a:lstStyle/>
          <a:p>
            <a:pPr algn="r"/>
            <a:r>
              <a:rPr lang="en-GB" sz="1300" u="sng" dirty="0">
                <a:solidFill>
                  <a:srgbClr val="0E7490"/>
                </a:solidFill>
                <a:hlinkClick r:id="rId3" action="ppaction://hlinksldjump"/>
              </a:rPr>
              <a:t>← Back</a:t>
            </a:r>
          </a:p>
        </p:txBody>
      </p:sp>
      <p:sp>
        <p:nvSpPr>
          <p:cNvPr id="1001" name="Section label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r>
              <a:rPr lang="en-GB" sz="1100" b="1" spc="150" dirty="0">
                <a:solidFill>
                  <a:srgbClr val="0E7490"/>
                </a:solidFill>
              </a:rPr>
              <a:t>APPENDIX</a:t>
            </a:r>
          </a:p>
        </p:txBody>
      </p:sp>
      <p:sp>
        <p:nvSpPr>
          <p:cNvPr id="1002" name="Title"/>
          <p:cNvSpPr txBox="1"/>
          <p:nvPr/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GB" sz="3000" b="1" dirty="0">
                <a:solidFill>
                  <a:srgbClr val="1E293B"/>
                </a:solidFill>
              </a:rPr>
              <a:t>Backup: why two coolant nodes?</a:t>
            </a:r>
          </a:p>
        </p:txBody>
      </p:sp>
    </p:spTree>
    <p:extLst>
      <p:ext uri="{BB962C8B-B14F-4D97-AF65-F5344CB8AC3E}">
        <p14:creationId xmlns:p14="http://schemas.microsoft.com/office/powerpoint/2010/main" val="14548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293B"/>
      </a:dk1>
      <a:lt1>
        <a:sysClr val="window" lastClr="FFFFFF"/>
      </a:lt1>
      <a:dk2>
        <a:srgbClr val="1E293B"/>
      </a:dk2>
      <a:lt2>
        <a:srgbClr val="E8E8E8"/>
      </a:lt2>
      <a:accent1>
        <a:srgbClr val="0E7490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E7490"/>
      </a:hlink>
      <a:folHlink>
        <a:srgbClr val="0E7490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626</Words>
  <Application>Microsoft Office PowerPoint</Application>
  <PresentationFormat>Widescreen</PresentationFormat>
  <Paragraphs>94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Office Theme</vt:lpstr>
      <vt:lpstr>Nuclear reactor model for axial offset control</vt:lpstr>
      <vt:lpstr>Content</vt:lpstr>
      <vt:lpstr>What is this project and why?</vt:lpstr>
      <vt:lpstr>Who is this project useful for?</vt:lpstr>
      <vt:lpstr>What makes this control problem interesting?</vt:lpstr>
      <vt:lpstr>Model structure and what makes this different to other models?</vt:lpstr>
      <vt:lpstr>Some background: </vt:lpstr>
      <vt:lpstr>Some background</vt:lpstr>
      <vt:lpstr>Some background</vt:lpstr>
      <vt:lpstr>Control example: Load disturbance </vt:lpstr>
      <vt:lpstr>PowerPoint Presentation</vt:lpstr>
      <vt:lpstr>Therefore rods are needed</vt:lpstr>
      <vt:lpstr>PowerPoint Presentation</vt:lpstr>
      <vt:lpstr>Demo Time!</vt:lpstr>
      <vt:lpstr>…welcome back to validation</vt:lpstr>
      <vt:lpstr>PowerPoint Presentation</vt:lpstr>
      <vt:lpstr>What is missing/what is not</vt:lpstr>
      <vt:lpstr>Special Thanks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Chung, Nikolas R</dc:creator>
  <cp:lastModifiedBy>Chung, Nikolas R</cp:lastModifiedBy>
  <cp:revision>1</cp:revision>
  <dcterms:created xsi:type="dcterms:W3CDTF">2026-10-11T17:45:19Z</dcterms:created>
  <dcterms:modified xsi:type="dcterms:W3CDTF">2026-10-12T12:58:52Z</dcterms:modified>
</cp:coreProperties>
</file>